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73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1421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I'm presenting Phase 2 of NeuroGuardian X, an AI-powered wearable prototype for neuro-cardiac risk monitoring and autonomous emergency response. Today I'll walk through the problem we're solving, the system architecture, our methodology, implementation progress, and the validation plan for this academic prototype. This is a Phase-2 engineering report, not a certified medical device.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roadmap for this presentation. We'll start with the problem and objectives, move through the proposed architecture and data flow, cover our methodology and emergency workflow design, then the hardware and software stack, system modules, dataset and AI model plan, our testing strategy, current results versus development targets, and close with limitations, future scope and conclusions.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Wearable devices are increasingly important because they let us watch physiological signals continuously rather than only at a checkup. No single signal tells the full story, so NeuroGuardian X fuses heart rate, ECG, EDA, motion, temperature, pressure and location. At Phase 2 our goal is an academic engineering prototype — designing the architecture, not shipping a certified medical device.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that isolated signals are ambiguous. A raised heart rate could mean many things, and a fall-like motion could be a real emergency or just exercise. Existing single-signal or single-threshold approaches can't reliably tell these apart. NeuroGuardian X is designed to combine multi-sensor context, signal-quality checks and activity awareness to make safer, more informed alert decisions.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seven core objectives cover sensor interfacing, a synchronized acquisition pipeline, preprocessing, model training, the Flutter mobile app, the emergency workflow, and rigorous validation. The scope is deliberately bounded to an academic prototype: we're building and validating the engineering pipeline, and we clearly separate what's measured from what's still a development target.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system has five subsystems. The wearable sensor node captures raw signals. Embedded processing on the XIAO ESP32-S3 handles sampling, preprocessing and BLE transfer. The AI and risk layer fuses stress, rhythm, fall and SOS signals into a risk state. The Flutter mobile app displays this to the user and manages emergency contacts. Finally, the emergency workflow handles vibration, notification, confirmation and GPS-based guardian alerts.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high-level architecture. The wearable sensor layer feeds the XIAO ESP32-S3, which does acquisition and BLE transfer. Features flow into an on-device risk engine that fuses stress, rhythm, fall and SOS signals. The Flutter app is the user interface, and it connects to the emergency workflow, which handles vibration alerts, SOS confirmation and GPS-tagged guardian notification. Manual SOS always takes priority over automatic escalation.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context level, NeuroGuardian X sits between the user, who wears the device and gets alerts, and a guardian or emergency contact, who receives risk summaries and GPS-tagged emergency messages. Public datasets like WESAD and PhysioNet, along with our own project sensor data, feed into the system as training data for the underlying models.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Internally, sensor acquisition feeds signal preprocessing, then feature extraction, then AI inference, and finally the risk decision engine. Each stage logs data locally — raw samples, cleaned windows and feature scores — for later analysis. When the risk decision engine identifies a critical state, it triggers the SOS or emergency alert path directly.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use-case model has four actors. The user wears the device, views readings, and can press SOS or confirm/cancel emergencies. The guardian receives alerts with GPS location and a risk summary. The developer collects data, trains models, and maintains firmware. The system itself acquires signals, classifies risk, and triggers alerts autonomously when needed.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methodology follows seven ordered steps. We initialize sensors and BLE, then continuously check signal quality so noisy channels are flagged rather than trusted blindly. We collect synchronized windows across all modalities, preprocess and extract features, run inference, and classify the state as normal, warning or emergency candidate. Warnings trigger vibration and app alerts; emergencies go through confirmation or automatic GPS-tagged escalation.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Continuous sensing, signal-quality checks and model thresholds all feed the risk decision engine. A low risk score means normal logging and display. A medium score triggers a warning — vibration plus an app alert. A high score, or a manual SOS press, triggers the full emergency workflow: an SOS message with GPS location sent to the guardian. Manual SOS always bypasses the confidence requirement.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hardware side, the XIAO ESP32-S3 is our main controller. MAX30102 handles PPG and SpO2, AD8232 handles single-lead ECG, and a GSR module captures skin conductance for stress features. The ICM-42688 IMU supports fall and activity detection, BMP390 adds pressure and altitude context, and a GPS module plus SOS button and vibration motor complete the emergency-response hardware.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software stack spans embedded firmware in Arduino or ESP-IDF, a Flutter and Dart mobile application, and a Python-based AI development pipeline using scikit-learn and TensorFlow or PyTorch. For embedded inference we plan to use TensorFlow Lite Micro or a compact model, and data is stored locally as CSV or JSON with an optional secure database for larger-scale logging.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firmware side, we separate concerns into sensor drivers, a scheduler, preprocessing, feature extraction, a BLE service, an alert state machine, and power management. The Flutter app covers BLE pairing, a live dashboard, trend graphs, an alert and confirmation screen, emergency-contact setup with consent, and data export for validation and model training.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combine two public datasets — WESAD for stress and affect, and PhysioNet's MIT-BIH database for ECG rhythm work — with our own NeuroGuardian sensor recordings, which are required for hardware-specific validation. Each modality has a tailored preprocessing pipeline, and we use subject-independent splits throughout so that no participant appears in both training and test sets, which keeps our performance estimates honest.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plan four model types: a stress classifier using HR, HRV, EDA and motion features; an ECG/rhythm analysis model built on filtered ECG and RR intervals; a fall/activity detector using IMU and altitude signals; and a risk engine that fuses all model scores with thresholds, signal quality and SOS input. We'll start with interpretable baselines like logistic regression and random forest, then move to CNN or LSTM architectures, favoring compact models suitable for embedded deployment.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Sensor validation compares each channel against a reference instrument — for example heart rate against a chest strap, ECG R-peaks against annotated recordings, and fall detection against controlled activity tests. On the software side we run unit tests on preprocessing, BLE packet-level tests, and full end-to-end tests that simulate a high-risk event and verify it produces vibration, an app warning, and an emergency message.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stage, the architecture and validation plan are complete, but final measured performance values are not yet available in this report — they're clearly marked as development targets rather than actual results. The emergency-workflow design is complete, while HR, SpO2, ECG, stress classification and fall detection are all still in progress or proposed, pending controlled hardware testing in the next phase.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transparent about limitations. This is not a certified medical device, and signals like wrist PPG, single-lead ECG and GSR are all sensitive to real-world conditions. For each limitation we have a mitigation: careful language around estimates rather than diagnoses, multi-signal confirmation with a cancel option before any emergency alert, mechanical design and calibration for better sensor contact, consent-based data handling, and subject-independent evaluation to avoid overfitting.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to Phase 3, the priority is collecting a small but high-quality NeuroGuardian-specific dataset with reference instruments, so we can replace development targets with real measured values under subject-independent evaluation. In conclusion, the project is technically feasible — the sensors map clearly to their functions — and the real engineering challenge is making readings trustworthy under wearable conditions, which our risk engine is designed to address.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ten references cited in the project report, covering the datasheets for our sensors and controller, the WESAD and PhysioNet/MIT-BIH datasets used for model development, the FDA's guidance on pulse-oximeter limitations, and the Flutter documentation used for the mobile application.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That concludes the Phase-2 review of NeuroGuardian X. I'm happy to take any questions on the architecture, methodology, or validation plan.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13315C"/>
          </a:solidFill>
          <a:ln/>
        </p:spPr>
      </p:sp>
      <p:sp>
        <p:nvSpPr>
          <p:cNvPr id="3" name="Shape 1"/>
          <p:cNvSpPr/>
          <p:nvPr/>
        </p:nvSpPr>
        <p:spPr>
          <a:xfrm>
            <a:off x="-1280160" y="4663440"/>
            <a:ext cx="3291840" cy="3291840"/>
          </a:xfrm>
          <a:prstGeom prst="ellipse">
            <a:avLst/>
          </a:prstGeom>
          <a:solidFill>
            <a:srgbClr val="13315C"/>
          </a:solidFill>
          <a:ln/>
        </p:spPr>
      </p:sp>
      <p:sp>
        <p:nvSpPr>
          <p:cNvPr id="4" name="Shape 2"/>
          <p:cNvSpPr/>
          <p:nvPr/>
        </p:nvSpPr>
        <p:spPr>
          <a:xfrm>
            <a:off x="10698480" y="4206240"/>
            <a:ext cx="1463040" cy="1463040"/>
          </a:xfrm>
          <a:prstGeom prst="ellipse">
            <a:avLst/>
          </a:prstGeom>
          <a:solidFill>
            <a:srgbClr val="118AB2"/>
          </a:solidFill>
          <a:ln/>
        </p:spPr>
      </p:sp>
      <p:sp>
        <p:nvSpPr>
          <p:cNvPr id="5" name="Text 3"/>
          <p:cNvSpPr/>
          <p:nvPr/>
        </p:nvSpPr>
        <p:spPr>
          <a:xfrm>
            <a:off x="822960" y="822960"/>
            <a:ext cx="7315200" cy="365760"/>
          </a:xfrm>
          <a:prstGeom prst="rect">
            <a:avLst/>
          </a:prstGeom>
          <a:noFill/>
          <a:ln/>
        </p:spPr>
        <p:txBody>
          <a:bodyPr wrap="square" rtlCol="0" anchor="ctr"/>
          <a:lstStyle/>
          <a:p>
            <a:pPr marL="0" indent="0">
              <a:buNone/>
            </a:pPr>
            <a:r>
              <a:rPr lang="en-US" sz="1300" b="1" kern="0" spc="200" dirty="0">
                <a:solidFill>
                  <a:srgbClr val="118AB2"/>
                </a:solidFill>
                <a:latin typeface="Calibri" pitchFamily="34" charset="0"/>
                <a:ea typeface="Calibri" pitchFamily="34" charset="-122"/>
                <a:cs typeface="Calibri" pitchFamily="34" charset="-120"/>
              </a:rPr>
              <a:t>PHASE 2  •  ACADEMIC PROJECT REPORT</a:t>
            </a:r>
            <a:endParaRPr lang="en-US" sz="1300" dirty="0"/>
          </a:p>
        </p:txBody>
      </p:sp>
      <p:sp>
        <p:nvSpPr>
          <p:cNvPr id="6" name="Text 4"/>
          <p:cNvSpPr/>
          <p:nvPr/>
        </p:nvSpPr>
        <p:spPr>
          <a:xfrm>
            <a:off x="822960" y="1371600"/>
            <a:ext cx="9601200" cy="1005840"/>
          </a:xfrm>
          <a:prstGeom prst="rect">
            <a:avLst/>
          </a:prstGeom>
          <a:noFill/>
          <a:ln/>
        </p:spPr>
        <p:txBody>
          <a:bodyPr wrap="square"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NeuroGuardian X</a:t>
            </a:r>
            <a:endParaRPr lang="en-US" sz="5200" dirty="0"/>
          </a:p>
        </p:txBody>
      </p:sp>
      <p:sp>
        <p:nvSpPr>
          <p:cNvPr id="7" name="Text 5"/>
          <p:cNvSpPr/>
          <p:nvPr/>
        </p:nvSpPr>
        <p:spPr>
          <a:xfrm>
            <a:off x="822960" y="2377440"/>
            <a:ext cx="9875520" cy="822960"/>
          </a:xfrm>
          <a:prstGeom prst="rect">
            <a:avLst/>
          </a:prstGeom>
          <a:noFill/>
          <a:ln/>
        </p:spPr>
        <p:txBody>
          <a:bodyPr wrap="square"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AI-Powered Predictive Neuro-Cardiac Healthcare Wearable</a:t>
            </a:r>
            <a:endParaRPr lang="en-US" sz="1800" dirty="0"/>
          </a:p>
          <a:p>
            <a:pPr marL="0" indent="0">
              <a:buNone/>
            </a:pPr>
            <a:r>
              <a:rPr lang="en-US" sz="1800" i="1" dirty="0">
                <a:solidFill>
                  <a:srgbClr val="CADCFC"/>
                </a:solidFill>
                <a:latin typeface="Calibri" pitchFamily="34" charset="0"/>
                <a:ea typeface="Calibri" pitchFamily="34" charset="-122"/>
                <a:cs typeface="Calibri" pitchFamily="34" charset="-120"/>
              </a:rPr>
              <a:t>with Autonomous Emergency Intelligence</a:t>
            </a:r>
            <a:endParaRPr lang="en-US" sz="1800" dirty="0"/>
          </a:p>
        </p:txBody>
      </p:sp>
      <p:sp>
        <p:nvSpPr>
          <p:cNvPr id="8" name="Shape 6"/>
          <p:cNvSpPr/>
          <p:nvPr/>
        </p:nvSpPr>
        <p:spPr>
          <a:xfrm>
            <a:off x="822960" y="3429000"/>
            <a:ext cx="4754880" cy="0"/>
          </a:xfrm>
          <a:prstGeom prst="line">
            <a:avLst/>
          </a:prstGeom>
          <a:noFill/>
          <a:ln w="19050">
            <a:solidFill>
              <a:srgbClr val="118AB2"/>
            </a:solidFill>
            <a:prstDash val="solid"/>
          </a:ln>
        </p:spPr>
      </p:sp>
      <p:sp>
        <p:nvSpPr>
          <p:cNvPr id="9" name="Text 7"/>
          <p:cNvSpPr/>
          <p:nvPr/>
        </p:nvSpPr>
        <p:spPr>
          <a:xfrm>
            <a:off x="822960" y="3657600"/>
            <a:ext cx="5669280" cy="1417320"/>
          </a:xfrm>
          <a:prstGeom prst="rect">
            <a:avLst/>
          </a:prstGeom>
          <a:noFill/>
          <a:ln/>
        </p:spPr>
        <p:txBody>
          <a:bodyPr wrap="square" rtlCol="0" anchor="ctr"/>
          <a:lstStyle/>
          <a:p>
            <a:pPr marL="0" indent="0">
              <a:lnSpc>
                <a:spcPct val="125000"/>
              </a:lnSpc>
              <a:buNone/>
            </a:pPr>
            <a:r>
              <a:rPr lang="en-US" sz="1600" b="1" dirty="0">
                <a:solidFill>
                  <a:srgbClr val="118AB2"/>
                </a:solidFill>
                <a:latin typeface="Calibri" pitchFamily="34" charset="0"/>
                <a:ea typeface="Calibri" pitchFamily="34" charset="-122"/>
                <a:cs typeface="Calibri" pitchFamily="34" charset="-120"/>
              </a:rPr>
              <a:t>Submitted by</a:t>
            </a:r>
            <a:endParaRPr lang="en-US" sz="1600" dirty="0"/>
          </a:p>
          <a:p>
            <a:pPr marL="0" indent="0">
              <a:lnSpc>
                <a:spcPct val="125000"/>
              </a:lnSpc>
              <a:buNone/>
            </a:pPr>
            <a:r>
              <a:rPr lang="en-US" sz="1600" dirty="0">
                <a:solidFill>
                  <a:srgbClr val="FFFFFF"/>
                </a:solidFill>
                <a:latin typeface="Calibri" pitchFamily="34" charset="0"/>
                <a:ea typeface="Calibri" pitchFamily="34" charset="-122"/>
                <a:cs typeface="Calibri" pitchFamily="34" charset="-120"/>
              </a:rPr>
              <a:t>BHUVAN SHARMA H V   </a:t>
            </a:r>
            <a:r>
              <a:rPr lang="en-US" sz="1600" dirty="0">
                <a:solidFill>
                  <a:srgbClr val="8FA6C9"/>
                </a:solidFill>
                <a:latin typeface="Calibri" pitchFamily="34" charset="0"/>
                <a:ea typeface="Calibri" pitchFamily="34" charset="-122"/>
                <a:cs typeface="Calibri" pitchFamily="34" charset="-120"/>
              </a:rPr>
              <a:t>4MC23CB010</a:t>
            </a:r>
            <a:endParaRPr lang="en-US" sz="1600" dirty="0"/>
          </a:p>
          <a:p>
            <a:pPr marL="0" indent="0">
              <a:lnSpc>
                <a:spcPct val="125000"/>
              </a:lnSpc>
              <a:buNone/>
            </a:pPr>
            <a:r>
              <a:rPr lang="en-US" sz="1600" dirty="0">
                <a:solidFill>
                  <a:srgbClr val="FFFFFF"/>
                </a:solidFill>
                <a:latin typeface="Calibri" pitchFamily="34" charset="0"/>
                <a:ea typeface="Calibri" pitchFamily="34" charset="-122"/>
                <a:cs typeface="Calibri" pitchFamily="34" charset="-120"/>
              </a:rPr>
              <a:t>GOWTHAM MP   </a:t>
            </a:r>
            <a:r>
              <a:rPr lang="en-US" sz="1600" dirty="0">
                <a:solidFill>
                  <a:srgbClr val="8FA6C9"/>
                </a:solidFill>
                <a:latin typeface="Calibri" pitchFamily="34" charset="0"/>
                <a:ea typeface="Calibri" pitchFamily="34" charset="-122"/>
                <a:cs typeface="Calibri" pitchFamily="34" charset="-120"/>
              </a:rPr>
              <a:t>4MC23CB019</a:t>
            </a:r>
            <a:endParaRPr lang="en-US" sz="1600" dirty="0"/>
          </a:p>
          <a:p>
            <a:pPr marL="0" indent="0">
              <a:lnSpc>
                <a:spcPct val="125000"/>
              </a:lnSpc>
              <a:buNone/>
            </a:pPr>
            <a:r>
              <a:rPr lang="en-US" sz="1600" dirty="0">
                <a:solidFill>
                  <a:srgbClr val="FFFFFF"/>
                </a:solidFill>
                <a:latin typeface="Calibri" pitchFamily="34" charset="0"/>
                <a:ea typeface="Calibri" pitchFamily="34" charset="-122"/>
                <a:cs typeface="Calibri" pitchFamily="34" charset="-120"/>
              </a:rPr>
              <a:t>VINAY H M   </a:t>
            </a:r>
            <a:r>
              <a:rPr lang="en-US" sz="1600" dirty="0">
                <a:solidFill>
                  <a:srgbClr val="8FA6C9"/>
                </a:solidFill>
                <a:latin typeface="Calibri" pitchFamily="34" charset="0"/>
                <a:ea typeface="Calibri" pitchFamily="34" charset="-122"/>
                <a:cs typeface="Calibri" pitchFamily="34" charset="-120"/>
              </a:rPr>
              <a:t>4MC23CB060</a:t>
            </a:r>
            <a:endParaRPr lang="en-US" sz="1600" dirty="0"/>
          </a:p>
          <a:p>
            <a:pPr marL="0" indent="0">
              <a:lnSpc>
                <a:spcPct val="125000"/>
              </a:lnSpc>
              <a:buNone/>
            </a:pPr>
            <a:r>
              <a:rPr lang="en-US" sz="1600" dirty="0">
                <a:solidFill>
                  <a:srgbClr val="FFFFFF"/>
                </a:solidFill>
                <a:latin typeface="Calibri" pitchFamily="34" charset="0"/>
                <a:ea typeface="Calibri" pitchFamily="34" charset="-122"/>
                <a:cs typeface="Calibri" pitchFamily="34" charset="-120"/>
              </a:rPr>
              <a:t>VINAY M   </a:t>
            </a:r>
            <a:r>
              <a:rPr lang="en-US" sz="1600" dirty="0">
                <a:solidFill>
                  <a:srgbClr val="8FA6C9"/>
                </a:solidFill>
                <a:latin typeface="Calibri" pitchFamily="34" charset="0"/>
                <a:ea typeface="Calibri" pitchFamily="34" charset="-122"/>
                <a:cs typeface="Calibri" pitchFamily="34" charset="-120"/>
              </a:rPr>
              <a:t>4MC23CB061</a:t>
            </a:r>
            <a:endParaRPr lang="en-US" sz="1600" dirty="0"/>
          </a:p>
        </p:txBody>
      </p:sp>
      <p:sp>
        <p:nvSpPr>
          <p:cNvPr id="10" name="Text 8"/>
          <p:cNvSpPr/>
          <p:nvPr/>
        </p:nvSpPr>
        <p:spPr>
          <a:xfrm>
            <a:off x="6903720" y="3657600"/>
            <a:ext cx="4434840" cy="822960"/>
          </a:xfrm>
          <a:prstGeom prst="rect">
            <a:avLst/>
          </a:prstGeom>
          <a:noFill/>
          <a:ln/>
        </p:spPr>
        <p:txBody>
          <a:bodyPr wrap="square" rtlCol="0" anchor="ctr"/>
          <a:lstStyle/>
          <a:p>
            <a:pPr marL="0" indent="0">
              <a:lnSpc>
                <a:spcPct val="125000"/>
              </a:lnSpc>
              <a:buNone/>
            </a:pPr>
            <a:r>
              <a:rPr lang="en-US" sz="2400" b="1" dirty="0">
                <a:solidFill>
                  <a:srgbClr val="118AB2"/>
                </a:solidFill>
                <a:latin typeface="Calibri" pitchFamily="34" charset="0"/>
                <a:ea typeface="Calibri" pitchFamily="34" charset="-122"/>
                <a:cs typeface="Calibri" pitchFamily="34" charset="-120"/>
              </a:rPr>
              <a:t>Under the Guidance of</a:t>
            </a:r>
            <a:endParaRPr lang="en-US" sz="2400" dirty="0"/>
          </a:p>
          <a:p>
            <a:pPr marL="0" indent="0">
              <a:lnSpc>
                <a:spcPct val="125000"/>
              </a:lnSpc>
              <a:buNone/>
            </a:pPr>
            <a:r>
              <a:rPr lang="en-US" sz="2400" b="1" dirty="0">
                <a:solidFill>
                  <a:srgbClr val="FFFFFF"/>
                </a:solidFill>
                <a:latin typeface="Calibri" pitchFamily="34" charset="0"/>
                <a:ea typeface="Calibri" pitchFamily="34" charset="-122"/>
                <a:cs typeface="Calibri" pitchFamily="34" charset="-120"/>
              </a:rPr>
              <a:t>Devaraju H B</a:t>
            </a:r>
            <a:endParaRPr lang="en-US" sz="2400" dirty="0"/>
          </a:p>
          <a:p>
            <a:pPr marL="0" indent="0">
              <a:lnSpc>
                <a:spcPct val="125000"/>
              </a:lnSpc>
              <a:buNone/>
            </a:pPr>
            <a:r>
              <a:rPr lang="en-US" sz="2400" dirty="0">
                <a:solidFill>
                  <a:srgbClr val="8FA6C9"/>
                </a:solidFill>
                <a:latin typeface="Calibri" pitchFamily="34" charset="0"/>
                <a:ea typeface="Calibri" pitchFamily="34" charset="-122"/>
                <a:cs typeface="Calibri" pitchFamily="34" charset="-120"/>
              </a:rPr>
              <a:t>Assistant Professor</a:t>
            </a:r>
            <a:endParaRPr lang="en-US" sz="2400" dirty="0"/>
          </a:p>
        </p:txBody>
      </p:sp>
      <p:sp>
        <p:nvSpPr>
          <p:cNvPr id="11" name="Text 9"/>
          <p:cNvSpPr/>
          <p:nvPr/>
        </p:nvSpPr>
        <p:spPr>
          <a:xfrm>
            <a:off x="822960" y="5257800"/>
            <a:ext cx="9875520" cy="32004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Department of Computer Science and Business Systems (CSBS)</a:t>
            </a:r>
            <a:endParaRPr lang="en-US" sz="1300" dirty="0"/>
          </a:p>
        </p:txBody>
      </p:sp>
      <p:sp>
        <p:nvSpPr>
          <p:cNvPr id="12" name="Text 10"/>
          <p:cNvSpPr/>
          <p:nvPr/>
        </p:nvSpPr>
        <p:spPr>
          <a:xfrm>
            <a:off x="822960" y="5577840"/>
            <a:ext cx="9875520" cy="320040"/>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Presentation Outline</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94360" y="1600200"/>
            <a:ext cx="384048" cy="384048"/>
          </a:xfrm>
          <a:prstGeom prst="ellipse">
            <a:avLst/>
          </a:prstGeom>
          <a:solidFill>
            <a:srgbClr val="118AB2"/>
          </a:solidFill>
          <a:ln/>
        </p:spPr>
      </p:sp>
      <p:sp>
        <p:nvSpPr>
          <p:cNvPr id="7" name="Text 5"/>
          <p:cNvSpPr/>
          <p:nvPr/>
        </p:nvSpPr>
        <p:spPr>
          <a:xfrm>
            <a:off x="594360" y="1600200"/>
            <a:ext cx="384048" cy="384048"/>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61288" y="1563624"/>
            <a:ext cx="4663440" cy="457200"/>
          </a:xfrm>
          <a:prstGeom prst="rect">
            <a:avLst/>
          </a:prstGeom>
          <a:noFill/>
          <a:ln/>
        </p:spPr>
        <p:txBody>
          <a:bodyPr wrap="square" rtlCol="0" anchor="ctr"/>
          <a:lstStyle/>
          <a:p>
            <a:pPr marL="0" indent="0">
              <a:buNone/>
            </a:pPr>
            <a:r>
              <a:rPr lang="en-US" sz="1450" dirty="0">
                <a:solidFill>
                  <a:srgbClr val="1B2430"/>
                </a:solidFill>
                <a:latin typeface="Calibri" pitchFamily="34" charset="0"/>
                <a:ea typeface="Calibri" pitchFamily="34" charset="-122"/>
                <a:cs typeface="Calibri" pitchFamily="34" charset="-120"/>
              </a:rPr>
              <a:t>Introduction &amp; Problem Statement</a:t>
            </a:r>
            <a:endParaRPr lang="en-US" sz="1450" dirty="0"/>
          </a:p>
        </p:txBody>
      </p:sp>
      <p:sp>
        <p:nvSpPr>
          <p:cNvPr id="9" name="Shape 7"/>
          <p:cNvSpPr/>
          <p:nvPr/>
        </p:nvSpPr>
        <p:spPr>
          <a:xfrm>
            <a:off x="594360" y="2313432"/>
            <a:ext cx="384048" cy="384048"/>
          </a:xfrm>
          <a:prstGeom prst="ellipse">
            <a:avLst/>
          </a:prstGeom>
          <a:solidFill>
            <a:srgbClr val="118AB2"/>
          </a:solidFill>
          <a:ln/>
        </p:spPr>
      </p:sp>
      <p:sp>
        <p:nvSpPr>
          <p:cNvPr id="10" name="Text 8"/>
          <p:cNvSpPr/>
          <p:nvPr/>
        </p:nvSpPr>
        <p:spPr>
          <a:xfrm>
            <a:off x="594360" y="2313432"/>
            <a:ext cx="384048" cy="384048"/>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61288" y="2276856"/>
            <a:ext cx="4663440" cy="457200"/>
          </a:xfrm>
          <a:prstGeom prst="rect">
            <a:avLst/>
          </a:prstGeom>
          <a:noFill/>
          <a:ln/>
        </p:spPr>
        <p:txBody>
          <a:bodyPr wrap="square" rtlCol="0" anchor="ctr"/>
          <a:lstStyle/>
          <a:p>
            <a:pPr marL="0" indent="0">
              <a:buNone/>
            </a:pPr>
            <a:r>
              <a:rPr lang="en-US" sz="1450" dirty="0">
                <a:solidFill>
                  <a:srgbClr val="1B2430"/>
                </a:solidFill>
                <a:latin typeface="Calibri" pitchFamily="34" charset="0"/>
                <a:ea typeface="Calibri" pitchFamily="34" charset="-122"/>
                <a:cs typeface="Calibri" pitchFamily="34" charset="-120"/>
              </a:rPr>
              <a:t>Objectives &amp; Scope</a:t>
            </a:r>
            <a:endParaRPr lang="en-US" sz="1450" dirty="0"/>
          </a:p>
        </p:txBody>
      </p:sp>
      <p:sp>
        <p:nvSpPr>
          <p:cNvPr id="12" name="Shape 10"/>
          <p:cNvSpPr/>
          <p:nvPr/>
        </p:nvSpPr>
        <p:spPr>
          <a:xfrm>
            <a:off x="594360" y="3026664"/>
            <a:ext cx="384048" cy="384048"/>
          </a:xfrm>
          <a:prstGeom prst="ellipse">
            <a:avLst/>
          </a:prstGeom>
          <a:solidFill>
            <a:srgbClr val="118AB2"/>
          </a:solidFill>
          <a:ln/>
        </p:spPr>
      </p:sp>
      <p:sp>
        <p:nvSpPr>
          <p:cNvPr id="13" name="Text 11"/>
          <p:cNvSpPr/>
          <p:nvPr/>
        </p:nvSpPr>
        <p:spPr>
          <a:xfrm>
            <a:off x="594360" y="3026664"/>
            <a:ext cx="384048" cy="384048"/>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161288" y="2990088"/>
            <a:ext cx="4663440" cy="457200"/>
          </a:xfrm>
          <a:prstGeom prst="rect">
            <a:avLst/>
          </a:prstGeom>
          <a:noFill/>
          <a:ln/>
        </p:spPr>
        <p:txBody>
          <a:bodyPr wrap="square" rtlCol="0" anchor="ctr"/>
          <a:lstStyle/>
          <a:p>
            <a:pPr marL="0" indent="0">
              <a:buNone/>
            </a:pPr>
            <a:r>
              <a:rPr lang="en-US" sz="1450" dirty="0">
                <a:solidFill>
                  <a:srgbClr val="1B2430"/>
                </a:solidFill>
                <a:latin typeface="Calibri" pitchFamily="34" charset="0"/>
                <a:ea typeface="Calibri" pitchFamily="34" charset="-122"/>
                <a:cs typeface="Calibri" pitchFamily="34" charset="-120"/>
              </a:rPr>
              <a:t>Proposed System Overview</a:t>
            </a:r>
            <a:endParaRPr lang="en-US" sz="1450" dirty="0"/>
          </a:p>
        </p:txBody>
      </p:sp>
      <p:sp>
        <p:nvSpPr>
          <p:cNvPr id="15" name="Shape 13"/>
          <p:cNvSpPr/>
          <p:nvPr/>
        </p:nvSpPr>
        <p:spPr>
          <a:xfrm>
            <a:off x="594360" y="3739896"/>
            <a:ext cx="384048" cy="384048"/>
          </a:xfrm>
          <a:prstGeom prst="ellipse">
            <a:avLst/>
          </a:prstGeom>
          <a:solidFill>
            <a:srgbClr val="118AB2"/>
          </a:solidFill>
          <a:ln/>
        </p:spPr>
      </p:sp>
      <p:sp>
        <p:nvSpPr>
          <p:cNvPr id="16" name="Text 14"/>
          <p:cNvSpPr/>
          <p:nvPr/>
        </p:nvSpPr>
        <p:spPr>
          <a:xfrm>
            <a:off x="594360" y="3739896"/>
            <a:ext cx="384048" cy="384048"/>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1161288" y="3703320"/>
            <a:ext cx="4663440" cy="457200"/>
          </a:xfrm>
          <a:prstGeom prst="rect">
            <a:avLst/>
          </a:prstGeom>
          <a:noFill/>
          <a:ln/>
        </p:spPr>
        <p:txBody>
          <a:bodyPr wrap="square" rtlCol="0" anchor="ctr"/>
          <a:lstStyle/>
          <a:p>
            <a:pPr marL="0" indent="0">
              <a:buNone/>
            </a:pPr>
            <a:r>
              <a:rPr lang="en-US" sz="1450" dirty="0">
                <a:solidFill>
                  <a:srgbClr val="1B2430"/>
                </a:solidFill>
                <a:latin typeface="Calibri" pitchFamily="34" charset="0"/>
                <a:ea typeface="Calibri" pitchFamily="34" charset="-122"/>
                <a:cs typeface="Calibri" pitchFamily="34" charset="-120"/>
              </a:rPr>
              <a:t>System Architecture &amp; Data Flow</a:t>
            </a:r>
            <a:endParaRPr lang="en-US" sz="1450" dirty="0"/>
          </a:p>
        </p:txBody>
      </p:sp>
      <p:sp>
        <p:nvSpPr>
          <p:cNvPr id="18" name="Shape 16"/>
          <p:cNvSpPr/>
          <p:nvPr/>
        </p:nvSpPr>
        <p:spPr>
          <a:xfrm>
            <a:off x="594360" y="4453128"/>
            <a:ext cx="384048" cy="384048"/>
          </a:xfrm>
          <a:prstGeom prst="ellipse">
            <a:avLst/>
          </a:prstGeom>
          <a:solidFill>
            <a:srgbClr val="118AB2"/>
          </a:solidFill>
          <a:ln/>
        </p:spPr>
      </p:sp>
      <p:sp>
        <p:nvSpPr>
          <p:cNvPr id="19" name="Text 17"/>
          <p:cNvSpPr/>
          <p:nvPr/>
        </p:nvSpPr>
        <p:spPr>
          <a:xfrm>
            <a:off x="594360" y="4453128"/>
            <a:ext cx="384048" cy="384048"/>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8"/>
          <p:cNvSpPr/>
          <p:nvPr/>
        </p:nvSpPr>
        <p:spPr>
          <a:xfrm>
            <a:off x="1161288" y="4416552"/>
            <a:ext cx="4663440" cy="457200"/>
          </a:xfrm>
          <a:prstGeom prst="rect">
            <a:avLst/>
          </a:prstGeom>
          <a:noFill/>
          <a:ln/>
        </p:spPr>
        <p:txBody>
          <a:bodyPr wrap="square" rtlCol="0" anchor="ctr"/>
          <a:lstStyle/>
          <a:p>
            <a:pPr marL="0" indent="0">
              <a:buNone/>
            </a:pPr>
            <a:r>
              <a:rPr lang="en-US" sz="1450" dirty="0">
                <a:solidFill>
                  <a:srgbClr val="1B2430"/>
                </a:solidFill>
                <a:latin typeface="Calibri" pitchFamily="34" charset="0"/>
                <a:ea typeface="Calibri" pitchFamily="34" charset="-122"/>
                <a:cs typeface="Calibri" pitchFamily="34" charset="-120"/>
              </a:rPr>
              <a:t>Methodology &amp; Emergency Workflow</a:t>
            </a:r>
            <a:endParaRPr lang="en-US" sz="1450" dirty="0"/>
          </a:p>
        </p:txBody>
      </p:sp>
      <p:sp>
        <p:nvSpPr>
          <p:cNvPr id="21" name="Shape 19"/>
          <p:cNvSpPr/>
          <p:nvPr/>
        </p:nvSpPr>
        <p:spPr>
          <a:xfrm>
            <a:off x="594360" y="5166360"/>
            <a:ext cx="384048" cy="384048"/>
          </a:xfrm>
          <a:prstGeom prst="ellipse">
            <a:avLst/>
          </a:prstGeom>
          <a:solidFill>
            <a:srgbClr val="118AB2"/>
          </a:solidFill>
          <a:ln/>
        </p:spPr>
      </p:sp>
      <p:sp>
        <p:nvSpPr>
          <p:cNvPr id="22" name="Text 20"/>
          <p:cNvSpPr/>
          <p:nvPr/>
        </p:nvSpPr>
        <p:spPr>
          <a:xfrm>
            <a:off x="594360" y="5166360"/>
            <a:ext cx="384048" cy="384048"/>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3" name="Text 21"/>
          <p:cNvSpPr/>
          <p:nvPr/>
        </p:nvSpPr>
        <p:spPr>
          <a:xfrm>
            <a:off x="1161288" y="5129784"/>
            <a:ext cx="4663440" cy="457200"/>
          </a:xfrm>
          <a:prstGeom prst="rect">
            <a:avLst/>
          </a:prstGeom>
          <a:noFill/>
          <a:ln/>
        </p:spPr>
        <p:txBody>
          <a:bodyPr wrap="square" rtlCol="0" anchor="ctr"/>
          <a:lstStyle/>
          <a:p>
            <a:pPr marL="0" indent="0">
              <a:buNone/>
            </a:pPr>
            <a:r>
              <a:rPr lang="en-US" sz="1450" dirty="0">
                <a:solidFill>
                  <a:srgbClr val="1B2430"/>
                </a:solidFill>
                <a:latin typeface="Calibri" pitchFamily="34" charset="0"/>
                <a:ea typeface="Calibri" pitchFamily="34" charset="-122"/>
                <a:cs typeface="Calibri" pitchFamily="34" charset="-120"/>
              </a:rPr>
              <a:t>Hardware &amp; Software Stack</a:t>
            </a:r>
            <a:endParaRPr lang="en-US" sz="1450" dirty="0"/>
          </a:p>
        </p:txBody>
      </p:sp>
      <p:sp>
        <p:nvSpPr>
          <p:cNvPr id="24" name="Shape 22"/>
          <p:cNvSpPr/>
          <p:nvPr/>
        </p:nvSpPr>
        <p:spPr>
          <a:xfrm>
            <a:off x="6309360" y="1600200"/>
            <a:ext cx="384048" cy="384048"/>
          </a:xfrm>
          <a:prstGeom prst="ellipse">
            <a:avLst/>
          </a:prstGeom>
          <a:solidFill>
            <a:srgbClr val="118AB2"/>
          </a:solidFill>
          <a:ln/>
        </p:spPr>
      </p:sp>
      <p:sp>
        <p:nvSpPr>
          <p:cNvPr id="25" name="Text 23"/>
          <p:cNvSpPr/>
          <p:nvPr/>
        </p:nvSpPr>
        <p:spPr>
          <a:xfrm>
            <a:off x="6309360" y="1600200"/>
            <a:ext cx="384048" cy="384048"/>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6" name="Text 24"/>
          <p:cNvSpPr/>
          <p:nvPr/>
        </p:nvSpPr>
        <p:spPr>
          <a:xfrm>
            <a:off x="6876288" y="1563624"/>
            <a:ext cx="4663440" cy="457200"/>
          </a:xfrm>
          <a:prstGeom prst="rect">
            <a:avLst/>
          </a:prstGeom>
          <a:noFill/>
          <a:ln/>
        </p:spPr>
        <p:txBody>
          <a:bodyPr wrap="square" rtlCol="0" anchor="ctr"/>
          <a:lstStyle/>
          <a:p>
            <a:pPr marL="0" indent="0">
              <a:buNone/>
            </a:pPr>
            <a:r>
              <a:rPr lang="en-US" sz="1450" dirty="0">
                <a:solidFill>
                  <a:srgbClr val="1B2430"/>
                </a:solidFill>
                <a:latin typeface="Calibri" pitchFamily="34" charset="0"/>
                <a:ea typeface="Calibri" pitchFamily="34" charset="-122"/>
                <a:cs typeface="Calibri" pitchFamily="34" charset="-120"/>
              </a:rPr>
              <a:t>System Modules</a:t>
            </a:r>
            <a:endParaRPr lang="en-US" sz="1450" dirty="0"/>
          </a:p>
        </p:txBody>
      </p:sp>
      <p:sp>
        <p:nvSpPr>
          <p:cNvPr id="27" name="Shape 25"/>
          <p:cNvSpPr/>
          <p:nvPr/>
        </p:nvSpPr>
        <p:spPr>
          <a:xfrm>
            <a:off x="6309360" y="2313432"/>
            <a:ext cx="384048" cy="384048"/>
          </a:xfrm>
          <a:prstGeom prst="ellipse">
            <a:avLst/>
          </a:prstGeom>
          <a:solidFill>
            <a:srgbClr val="118AB2"/>
          </a:solidFill>
          <a:ln/>
        </p:spPr>
      </p:sp>
      <p:sp>
        <p:nvSpPr>
          <p:cNvPr id="28" name="Text 26"/>
          <p:cNvSpPr/>
          <p:nvPr/>
        </p:nvSpPr>
        <p:spPr>
          <a:xfrm>
            <a:off x="6309360" y="2313432"/>
            <a:ext cx="384048" cy="384048"/>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Text 27"/>
          <p:cNvSpPr/>
          <p:nvPr/>
        </p:nvSpPr>
        <p:spPr>
          <a:xfrm>
            <a:off x="6876288" y="2276856"/>
            <a:ext cx="4663440" cy="457200"/>
          </a:xfrm>
          <a:prstGeom prst="rect">
            <a:avLst/>
          </a:prstGeom>
          <a:noFill/>
          <a:ln/>
        </p:spPr>
        <p:txBody>
          <a:bodyPr wrap="square" rtlCol="0" anchor="ctr"/>
          <a:lstStyle/>
          <a:p>
            <a:pPr marL="0" indent="0">
              <a:buNone/>
            </a:pPr>
            <a:r>
              <a:rPr lang="en-US" sz="1450" dirty="0">
                <a:solidFill>
                  <a:srgbClr val="1B2430"/>
                </a:solidFill>
                <a:latin typeface="Calibri" pitchFamily="34" charset="0"/>
                <a:ea typeface="Calibri" pitchFamily="34" charset="-122"/>
                <a:cs typeface="Calibri" pitchFamily="34" charset="-120"/>
              </a:rPr>
              <a:t>Dataset &amp; AI Models</a:t>
            </a:r>
            <a:endParaRPr lang="en-US" sz="1450" dirty="0"/>
          </a:p>
        </p:txBody>
      </p:sp>
      <p:sp>
        <p:nvSpPr>
          <p:cNvPr id="30" name="Shape 28"/>
          <p:cNvSpPr/>
          <p:nvPr/>
        </p:nvSpPr>
        <p:spPr>
          <a:xfrm>
            <a:off x="6309360" y="3026664"/>
            <a:ext cx="384048" cy="384048"/>
          </a:xfrm>
          <a:prstGeom prst="ellipse">
            <a:avLst/>
          </a:prstGeom>
          <a:solidFill>
            <a:srgbClr val="118AB2"/>
          </a:solidFill>
          <a:ln/>
        </p:spPr>
      </p:sp>
      <p:sp>
        <p:nvSpPr>
          <p:cNvPr id="31" name="Text 29"/>
          <p:cNvSpPr/>
          <p:nvPr/>
        </p:nvSpPr>
        <p:spPr>
          <a:xfrm>
            <a:off x="6309360" y="3026664"/>
            <a:ext cx="384048" cy="384048"/>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30"/>
          <p:cNvSpPr/>
          <p:nvPr/>
        </p:nvSpPr>
        <p:spPr>
          <a:xfrm>
            <a:off x="6876288" y="2990088"/>
            <a:ext cx="4663440" cy="457200"/>
          </a:xfrm>
          <a:prstGeom prst="rect">
            <a:avLst/>
          </a:prstGeom>
          <a:noFill/>
          <a:ln/>
        </p:spPr>
        <p:txBody>
          <a:bodyPr wrap="square" rtlCol="0" anchor="ctr"/>
          <a:lstStyle/>
          <a:p>
            <a:pPr marL="0" indent="0">
              <a:buNone/>
            </a:pPr>
            <a:r>
              <a:rPr lang="en-US" sz="1450" dirty="0">
                <a:solidFill>
                  <a:srgbClr val="1B2430"/>
                </a:solidFill>
                <a:latin typeface="Calibri" pitchFamily="34" charset="0"/>
                <a:ea typeface="Calibri" pitchFamily="34" charset="-122"/>
                <a:cs typeface="Calibri" pitchFamily="34" charset="-120"/>
              </a:rPr>
              <a:t>Testing &amp; Validation Plan</a:t>
            </a:r>
            <a:endParaRPr lang="en-US" sz="1450" dirty="0"/>
          </a:p>
        </p:txBody>
      </p:sp>
      <p:sp>
        <p:nvSpPr>
          <p:cNvPr id="33" name="Shape 31"/>
          <p:cNvSpPr/>
          <p:nvPr/>
        </p:nvSpPr>
        <p:spPr>
          <a:xfrm>
            <a:off x="6309360" y="3739896"/>
            <a:ext cx="384048" cy="384048"/>
          </a:xfrm>
          <a:prstGeom prst="ellipse">
            <a:avLst/>
          </a:prstGeom>
          <a:solidFill>
            <a:srgbClr val="118AB2"/>
          </a:solidFill>
          <a:ln/>
        </p:spPr>
      </p:sp>
      <p:sp>
        <p:nvSpPr>
          <p:cNvPr id="34" name="Text 32"/>
          <p:cNvSpPr/>
          <p:nvPr/>
        </p:nvSpPr>
        <p:spPr>
          <a:xfrm>
            <a:off x="6309360" y="3739896"/>
            <a:ext cx="384048" cy="384048"/>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5" name="Text 33"/>
          <p:cNvSpPr/>
          <p:nvPr/>
        </p:nvSpPr>
        <p:spPr>
          <a:xfrm>
            <a:off x="6876288" y="3703320"/>
            <a:ext cx="4663440" cy="457200"/>
          </a:xfrm>
          <a:prstGeom prst="rect">
            <a:avLst/>
          </a:prstGeom>
          <a:noFill/>
          <a:ln/>
        </p:spPr>
        <p:txBody>
          <a:bodyPr wrap="square" rtlCol="0" anchor="ctr"/>
          <a:lstStyle/>
          <a:p>
            <a:pPr marL="0" indent="0">
              <a:buNone/>
            </a:pPr>
            <a:r>
              <a:rPr lang="en-US" sz="1450" dirty="0">
                <a:solidFill>
                  <a:srgbClr val="1B2430"/>
                </a:solidFill>
                <a:latin typeface="Calibri" pitchFamily="34" charset="0"/>
                <a:ea typeface="Calibri" pitchFamily="34" charset="-122"/>
                <a:cs typeface="Calibri" pitchFamily="34" charset="-120"/>
              </a:rPr>
              <a:t>Results: Targets vs Measured</a:t>
            </a:r>
            <a:endParaRPr lang="en-US" sz="1450" dirty="0"/>
          </a:p>
        </p:txBody>
      </p:sp>
      <p:sp>
        <p:nvSpPr>
          <p:cNvPr id="36" name="Shape 34"/>
          <p:cNvSpPr/>
          <p:nvPr/>
        </p:nvSpPr>
        <p:spPr>
          <a:xfrm>
            <a:off x="6309360" y="4453128"/>
            <a:ext cx="384048" cy="384048"/>
          </a:xfrm>
          <a:prstGeom prst="ellipse">
            <a:avLst/>
          </a:prstGeom>
          <a:solidFill>
            <a:srgbClr val="118AB2"/>
          </a:solidFill>
          <a:ln/>
        </p:spPr>
      </p:sp>
      <p:sp>
        <p:nvSpPr>
          <p:cNvPr id="37" name="Text 35"/>
          <p:cNvSpPr/>
          <p:nvPr/>
        </p:nvSpPr>
        <p:spPr>
          <a:xfrm>
            <a:off x="6309360" y="4453128"/>
            <a:ext cx="384048" cy="384048"/>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8" name="Text 36"/>
          <p:cNvSpPr/>
          <p:nvPr/>
        </p:nvSpPr>
        <p:spPr>
          <a:xfrm>
            <a:off x="6876288" y="4416552"/>
            <a:ext cx="4663440" cy="457200"/>
          </a:xfrm>
          <a:prstGeom prst="rect">
            <a:avLst/>
          </a:prstGeom>
          <a:noFill/>
          <a:ln/>
        </p:spPr>
        <p:txBody>
          <a:bodyPr wrap="square" rtlCol="0" anchor="ctr"/>
          <a:lstStyle/>
          <a:p>
            <a:pPr marL="0" indent="0">
              <a:buNone/>
            </a:pPr>
            <a:r>
              <a:rPr lang="en-US" sz="1450" dirty="0">
                <a:solidFill>
                  <a:srgbClr val="1B2430"/>
                </a:solidFill>
                <a:latin typeface="Calibri" pitchFamily="34" charset="0"/>
                <a:ea typeface="Calibri" pitchFamily="34" charset="-122"/>
                <a:cs typeface="Calibri" pitchFamily="34" charset="-120"/>
              </a:rPr>
              <a:t>Limitations &amp; Future Scope</a:t>
            </a:r>
            <a:endParaRPr lang="en-US" sz="1450" dirty="0"/>
          </a:p>
        </p:txBody>
      </p:sp>
      <p:sp>
        <p:nvSpPr>
          <p:cNvPr id="39" name="Shape 37"/>
          <p:cNvSpPr/>
          <p:nvPr/>
        </p:nvSpPr>
        <p:spPr>
          <a:xfrm>
            <a:off x="6309360" y="5166360"/>
            <a:ext cx="384048" cy="384048"/>
          </a:xfrm>
          <a:prstGeom prst="ellipse">
            <a:avLst/>
          </a:prstGeom>
          <a:solidFill>
            <a:srgbClr val="118AB2"/>
          </a:solidFill>
          <a:ln/>
        </p:spPr>
      </p:sp>
      <p:sp>
        <p:nvSpPr>
          <p:cNvPr id="40" name="Text 38"/>
          <p:cNvSpPr/>
          <p:nvPr/>
        </p:nvSpPr>
        <p:spPr>
          <a:xfrm>
            <a:off x="6309360" y="5166360"/>
            <a:ext cx="384048" cy="384048"/>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1" name="Text 39"/>
          <p:cNvSpPr/>
          <p:nvPr/>
        </p:nvSpPr>
        <p:spPr>
          <a:xfrm>
            <a:off x="6876288" y="5129784"/>
            <a:ext cx="4663440" cy="457200"/>
          </a:xfrm>
          <a:prstGeom prst="rect">
            <a:avLst/>
          </a:prstGeom>
          <a:noFill/>
          <a:ln/>
        </p:spPr>
        <p:txBody>
          <a:bodyPr wrap="square" rtlCol="0" anchor="ctr"/>
          <a:lstStyle/>
          <a:p>
            <a:pPr marL="0" indent="0">
              <a:buNone/>
            </a:pPr>
            <a:r>
              <a:rPr lang="en-US" sz="1450" dirty="0">
                <a:solidFill>
                  <a:srgbClr val="1B2430"/>
                </a:solidFill>
                <a:latin typeface="Calibri" pitchFamily="34" charset="0"/>
                <a:ea typeface="Calibri" pitchFamily="34" charset="-122"/>
                <a:cs typeface="Calibri" pitchFamily="34" charset="-120"/>
              </a:rPr>
              <a:t>Conclusion &amp; References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Continuous, Multi-Signal Health Monitoring</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6" name="Text 4"/>
          <p:cNvSpPr/>
          <p:nvPr/>
        </p:nvSpPr>
        <p:spPr>
          <a:xfrm>
            <a:off x="502920" y="1554480"/>
            <a:ext cx="6675120" cy="4206240"/>
          </a:xfrm>
          <a:prstGeom prst="rect">
            <a:avLst/>
          </a:prstGeom>
          <a:noFill/>
          <a:ln/>
        </p:spPr>
        <p:txBody>
          <a:bodyPr wrap="square" rtlCol="0" anchor="t"/>
          <a:lstStyle/>
          <a:p>
            <a:pPr marL="228600" indent="-228600">
              <a:spcAft>
                <a:spcPts val="1000"/>
              </a:spcAft>
              <a:buSzPct val="100000"/>
              <a:buChar char="▪"/>
            </a:pPr>
            <a:r>
              <a:rPr lang="en-US" sz="2000" dirty="0">
                <a:solidFill>
                  <a:srgbClr val="1B2430"/>
                </a:solidFill>
                <a:latin typeface="Calibri" pitchFamily="34" charset="0"/>
                <a:ea typeface="Calibri" pitchFamily="34" charset="-122"/>
                <a:cs typeface="Calibri" pitchFamily="34" charset="-120"/>
              </a:rPr>
              <a:t>Wearable healthcare systems support preventive monitoring by observing physiological changes continuously, not only during clinic visits.</a:t>
            </a:r>
            <a:endParaRPr lang="en-US" sz="2000" dirty="0"/>
          </a:p>
          <a:p>
            <a:pPr marL="228600" indent="-228600">
              <a:spcAft>
                <a:spcPts val="1000"/>
              </a:spcAft>
              <a:buSzPct val="100000"/>
              <a:buChar char="▪"/>
            </a:pPr>
            <a:r>
              <a:rPr lang="en-US" sz="2000" dirty="0">
                <a:solidFill>
                  <a:srgbClr val="1B2430"/>
                </a:solidFill>
                <a:latin typeface="Calibri" pitchFamily="34" charset="0"/>
                <a:ea typeface="Calibri" pitchFamily="34" charset="-122"/>
                <a:cs typeface="Calibri" pitchFamily="34" charset="-120"/>
              </a:rPr>
              <a:t>Heart rate, SpO2 estimation, ECG morphology, EDA, movement, temperature, pressure and location together give context on stress, exertion, falls and cardiac patterns.</a:t>
            </a:r>
            <a:endParaRPr lang="en-US" sz="2000" dirty="0"/>
          </a:p>
          <a:p>
            <a:pPr marL="228600" indent="-228600">
              <a:spcAft>
                <a:spcPts val="1000"/>
              </a:spcAft>
              <a:buSzPct val="100000"/>
              <a:buChar char="▪"/>
            </a:pPr>
            <a:r>
              <a:rPr lang="en-US" sz="2000" dirty="0">
                <a:solidFill>
                  <a:srgbClr val="1B2430"/>
                </a:solidFill>
                <a:latin typeface="Calibri" pitchFamily="34" charset="0"/>
                <a:ea typeface="Calibri" pitchFamily="34" charset="-122"/>
                <a:cs typeface="Calibri" pitchFamily="34" charset="-120"/>
              </a:rPr>
              <a:t>NeuroGuardian X is a multi-sensor academic prototype exploring continuous monitoring from an embedded AI perspective.</a:t>
            </a:r>
            <a:endParaRPr lang="en-US" sz="2000" dirty="0"/>
          </a:p>
          <a:p>
            <a:pPr marL="228600" indent="-228600">
              <a:spcAft>
                <a:spcPts val="1000"/>
              </a:spcAft>
              <a:buSzPct val="100000"/>
              <a:buChar char="▪"/>
            </a:pPr>
            <a:r>
              <a:rPr lang="en-US" sz="2000" dirty="0">
                <a:solidFill>
                  <a:srgbClr val="1B2430"/>
                </a:solidFill>
                <a:latin typeface="Calibri" pitchFamily="34" charset="0"/>
                <a:ea typeface="Calibri" pitchFamily="34" charset="-122"/>
                <a:cs typeface="Calibri" pitchFamily="34" charset="-120"/>
              </a:rPr>
              <a:t>Phase-2 does not build a certified diagnostic device — it designs an architecture to collect, preprocess, classify and act on synchronized signals.</a:t>
            </a:r>
            <a:endParaRPr lang="en-US" sz="2000" dirty="0"/>
          </a:p>
        </p:txBody>
      </p:sp>
      <p:sp>
        <p:nvSpPr>
          <p:cNvPr id="7" name="Shape 5"/>
          <p:cNvSpPr/>
          <p:nvPr/>
        </p:nvSpPr>
        <p:spPr>
          <a:xfrm>
            <a:off x="8092440" y="1737360"/>
            <a:ext cx="3291840" cy="676656"/>
          </a:xfrm>
          <a:prstGeom prst="roundRect">
            <a:avLst>
              <a:gd name="adj" fmla="val 12162"/>
            </a:avLst>
          </a:prstGeom>
          <a:solidFill>
            <a:srgbClr val="FFFFFF"/>
          </a:solidFill>
          <a:ln w="9525">
            <a:solidFill>
              <a:srgbClr val="E2E6ED"/>
            </a:solidFill>
            <a:prstDash val="solid"/>
          </a:ln>
          <a:effectLst>
            <a:outerShdw blurRad="63500" dist="12700" dir="5400000" algn="bl" rotWithShape="0">
              <a:srgbClr val="1B2430">
                <a:alpha val="14000"/>
              </a:srgbClr>
            </a:outerShdw>
          </a:effectLst>
        </p:spPr>
      </p:sp>
      <p:sp>
        <p:nvSpPr>
          <p:cNvPr id="8" name="Shape 6"/>
          <p:cNvSpPr/>
          <p:nvPr/>
        </p:nvSpPr>
        <p:spPr>
          <a:xfrm>
            <a:off x="8238744" y="1865376"/>
            <a:ext cx="420624" cy="420624"/>
          </a:xfrm>
          <a:prstGeom prst="ellipse">
            <a:avLst/>
          </a:prstGeom>
          <a:solidFill>
            <a:srgbClr val="E63946"/>
          </a:solidFill>
          <a:ln/>
        </p:spPr>
      </p:sp>
      <p:sp>
        <p:nvSpPr>
          <p:cNvPr id="9" name="Text 7"/>
          <p:cNvSpPr/>
          <p:nvPr/>
        </p:nvSpPr>
        <p:spPr>
          <a:xfrm>
            <a:off x="8238744" y="1865376"/>
            <a:ext cx="420624" cy="420624"/>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HR</a:t>
            </a:r>
            <a:endParaRPr lang="en-US" sz="1200" dirty="0"/>
          </a:p>
        </p:txBody>
      </p:sp>
      <p:sp>
        <p:nvSpPr>
          <p:cNvPr id="10" name="Text 8"/>
          <p:cNvSpPr/>
          <p:nvPr/>
        </p:nvSpPr>
        <p:spPr>
          <a:xfrm>
            <a:off x="8805672" y="1737360"/>
            <a:ext cx="2423160" cy="676656"/>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Heart Rate / PPG</a:t>
            </a:r>
            <a:endParaRPr lang="en-US" sz="1200" dirty="0"/>
          </a:p>
        </p:txBody>
      </p:sp>
      <p:sp>
        <p:nvSpPr>
          <p:cNvPr id="11" name="Shape 9"/>
          <p:cNvSpPr/>
          <p:nvPr/>
        </p:nvSpPr>
        <p:spPr>
          <a:xfrm>
            <a:off x="8092440" y="2615184"/>
            <a:ext cx="3291840" cy="676656"/>
          </a:xfrm>
          <a:prstGeom prst="roundRect">
            <a:avLst>
              <a:gd name="adj" fmla="val 12162"/>
            </a:avLst>
          </a:prstGeom>
          <a:solidFill>
            <a:srgbClr val="FFFFFF"/>
          </a:solidFill>
          <a:ln w="9525">
            <a:solidFill>
              <a:srgbClr val="E2E6ED"/>
            </a:solidFill>
            <a:prstDash val="solid"/>
          </a:ln>
          <a:effectLst>
            <a:outerShdw blurRad="63500" dist="12700" dir="5400000" algn="bl" rotWithShape="0">
              <a:srgbClr val="1B2430">
                <a:alpha val="14000"/>
              </a:srgbClr>
            </a:outerShdw>
          </a:effectLst>
        </p:spPr>
      </p:sp>
      <p:sp>
        <p:nvSpPr>
          <p:cNvPr id="12" name="Shape 10"/>
          <p:cNvSpPr/>
          <p:nvPr/>
        </p:nvSpPr>
        <p:spPr>
          <a:xfrm>
            <a:off x="8238744" y="2743200"/>
            <a:ext cx="420624" cy="420624"/>
          </a:xfrm>
          <a:prstGeom prst="ellipse">
            <a:avLst/>
          </a:prstGeom>
          <a:solidFill>
            <a:srgbClr val="118AB2"/>
          </a:solidFill>
          <a:ln/>
        </p:spPr>
      </p:sp>
      <p:sp>
        <p:nvSpPr>
          <p:cNvPr id="13" name="Text 11"/>
          <p:cNvSpPr/>
          <p:nvPr/>
        </p:nvSpPr>
        <p:spPr>
          <a:xfrm>
            <a:off x="8238744" y="2743200"/>
            <a:ext cx="420624" cy="42062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ECG</a:t>
            </a:r>
            <a:endParaRPr lang="en-US" sz="1050" dirty="0"/>
          </a:p>
        </p:txBody>
      </p:sp>
      <p:sp>
        <p:nvSpPr>
          <p:cNvPr id="14" name="Text 12"/>
          <p:cNvSpPr/>
          <p:nvPr/>
        </p:nvSpPr>
        <p:spPr>
          <a:xfrm>
            <a:off x="8805672" y="2615184"/>
            <a:ext cx="2423160" cy="676656"/>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Cardiac Rhythm</a:t>
            </a:r>
            <a:endParaRPr lang="en-US" sz="1200" dirty="0"/>
          </a:p>
        </p:txBody>
      </p:sp>
      <p:sp>
        <p:nvSpPr>
          <p:cNvPr id="15" name="Shape 13"/>
          <p:cNvSpPr/>
          <p:nvPr/>
        </p:nvSpPr>
        <p:spPr>
          <a:xfrm>
            <a:off x="8092440" y="3493008"/>
            <a:ext cx="3291840" cy="676656"/>
          </a:xfrm>
          <a:prstGeom prst="roundRect">
            <a:avLst>
              <a:gd name="adj" fmla="val 12162"/>
            </a:avLst>
          </a:prstGeom>
          <a:solidFill>
            <a:srgbClr val="FFFFFF"/>
          </a:solidFill>
          <a:ln w="9525">
            <a:solidFill>
              <a:srgbClr val="E2E6ED"/>
            </a:solidFill>
            <a:prstDash val="solid"/>
          </a:ln>
          <a:effectLst>
            <a:outerShdw blurRad="63500" dist="12700" dir="5400000" algn="bl" rotWithShape="0">
              <a:srgbClr val="1B2430">
                <a:alpha val="14000"/>
              </a:srgbClr>
            </a:outerShdw>
          </a:effectLst>
        </p:spPr>
      </p:sp>
      <p:sp>
        <p:nvSpPr>
          <p:cNvPr id="16" name="Shape 14"/>
          <p:cNvSpPr/>
          <p:nvPr/>
        </p:nvSpPr>
        <p:spPr>
          <a:xfrm>
            <a:off x="8238744" y="3621024"/>
            <a:ext cx="420624" cy="420624"/>
          </a:xfrm>
          <a:prstGeom prst="ellipse">
            <a:avLst/>
          </a:prstGeom>
          <a:solidFill>
            <a:srgbClr val="6C5CE7"/>
          </a:solidFill>
          <a:ln/>
        </p:spPr>
      </p:sp>
      <p:sp>
        <p:nvSpPr>
          <p:cNvPr id="17" name="Text 15"/>
          <p:cNvSpPr/>
          <p:nvPr/>
        </p:nvSpPr>
        <p:spPr>
          <a:xfrm>
            <a:off x="8238744" y="3621024"/>
            <a:ext cx="420624" cy="42062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EDA</a:t>
            </a:r>
            <a:endParaRPr lang="en-US" sz="1050" dirty="0"/>
          </a:p>
        </p:txBody>
      </p:sp>
      <p:sp>
        <p:nvSpPr>
          <p:cNvPr id="18" name="Text 16"/>
          <p:cNvSpPr/>
          <p:nvPr/>
        </p:nvSpPr>
        <p:spPr>
          <a:xfrm>
            <a:off x="8805672" y="3493008"/>
            <a:ext cx="2423160" cy="676656"/>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Stress / Arousal</a:t>
            </a:r>
            <a:endParaRPr lang="en-US" sz="1200" dirty="0"/>
          </a:p>
        </p:txBody>
      </p:sp>
      <p:sp>
        <p:nvSpPr>
          <p:cNvPr id="19" name="Shape 17"/>
          <p:cNvSpPr/>
          <p:nvPr/>
        </p:nvSpPr>
        <p:spPr>
          <a:xfrm>
            <a:off x="8092440" y="4370832"/>
            <a:ext cx="3291840" cy="676656"/>
          </a:xfrm>
          <a:prstGeom prst="roundRect">
            <a:avLst>
              <a:gd name="adj" fmla="val 12162"/>
            </a:avLst>
          </a:prstGeom>
          <a:solidFill>
            <a:srgbClr val="FFFFFF"/>
          </a:solidFill>
          <a:ln w="9525">
            <a:solidFill>
              <a:srgbClr val="E2E6ED"/>
            </a:solidFill>
            <a:prstDash val="solid"/>
          </a:ln>
          <a:effectLst>
            <a:outerShdw blurRad="63500" dist="12700" dir="5400000" algn="bl" rotWithShape="0">
              <a:srgbClr val="1B2430">
                <a:alpha val="14000"/>
              </a:srgbClr>
            </a:outerShdw>
          </a:effectLst>
        </p:spPr>
      </p:sp>
      <p:sp>
        <p:nvSpPr>
          <p:cNvPr id="20" name="Shape 18"/>
          <p:cNvSpPr/>
          <p:nvPr/>
        </p:nvSpPr>
        <p:spPr>
          <a:xfrm>
            <a:off x="8238744" y="4498848"/>
            <a:ext cx="420624" cy="420624"/>
          </a:xfrm>
          <a:prstGeom prst="ellipse">
            <a:avLst/>
          </a:prstGeom>
          <a:solidFill>
            <a:srgbClr val="F1962B"/>
          </a:solidFill>
          <a:ln/>
        </p:spPr>
      </p:sp>
      <p:sp>
        <p:nvSpPr>
          <p:cNvPr id="21" name="Text 19"/>
          <p:cNvSpPr/>
          <p:nvPr/>
        </p:nvSpPr>
        <p:spPr>
          <a:xfrm>
            <a:off x="8238744" y="4498848"/>
            <a:ext cx="420624" cy="42062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IMU</a:t>
            </a:r>
            <a:endParaRPr lang="en-US" sz="1050" dirty="0"/>
          </a:p>
        </p:txBody>
      </p:sp>
      <p:sp>
        <p:nvSpPr>
          <p:cNvPr id="22" name="Text 20"/>
          <p:cNvSpPr/>
          <p:nvPr/>
        </p:nvSpPr>
        <p:spPr>
          <a:xfrm>
            <a:off x="8805672" y="4370832"/>
            <a:ext cx="2423160" cy="676656"/>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Motion / Falls</a:t>
            </a:r>
            <a:endParaRPr lang="en-US" sz="1200" dirty="0"/>
          </a:p>
        </p:txBody>
      </p:sp>
      <p:sp>
        <p:nvSpPr>
          <p:cNvPr id="23" name="Shape 21"/>
          <p:cNvSpPr/>
          <p:nvPr/>
        </p:nvSpPr>
        <p:spPr>
          <a:xfrm>
            <a:off x="8092440" y="5248656"/>
            <a:ext cx="3291840" cy="676656"/>
          </a:xfrm>
          <a:prstGeom prst="roundRect">
            <a:avLst>
              <a:gd name="adj" fmla="val 12162"/>
            </a:avLst>
          </a:prstGeom>
          <a:solidFill>
            <a:srgbClr val="FFFFFF"/>
          </a:solidFill>
          <a:ln w="9525">
            <a:solidFill>
              <a:srgbClr val="E2E6ED"/>
            </a:solidFill>
            <a:prstDash val="solid"/>
          </a:ln>
          <a:effectLst>
            <a:outerShdw blurRad="63500" dist="12700" dir="5400000" algn="bl" rotWithShape="0">
              <a:srgbClr val="1B2430">
                <a:alpha val="14000"/>
              </a:srgbClr>
            </a:outerShdw>
          </a:effectLst>
        </p:spPr>
      </p:sp>
      <p:sp>
        <p:nvSpPr>
          <p:cNvPr id="24" name="Shape 22"/>
          <p:cNvSpPr/>
          <p:nvPr/>
        </p:nvSpPr>
        <p:spPr>
          <a:xfrm>
            <a:off x="8238744" y="5376672"/>
            <a:ext cx="420624" cy="420624"/>
          </a:xfrm>
          <a:prstGeom prst="ellipse">
            <a:avLst/>
          </a:prstGeom>
          <a:solidFill>
            <a:srgbClr val="2DA44E"/>
          </a:solidFill>
          <a:ln/>
        </p:spPr>
      </p:sp>
      <p:sp>
        <p:nvSpPr>
          <p:cNvPr id="25" name="Text 23"/>
          <p:cNvSpPr/>
          <p:nvPr/>
        </p:nvSpPr>
        <p:spPr>
          <a:xfrm>
            <a:off x="8238744" y="5376672"/>
            <a:ext cx="420624" cy="420624"/>
          </a:xfrm>
          <a:prstGeom prst="rect">
            <a:avLst/>
          </a:prstGeom>
          <a:noFill/>
          <a:ln/>
        </p:spPr>
        <p:txBody>
          <a:bodyPr wrap="non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GPS</a:t>
            </a:r>
            <a:endParaRPr lang="en-US" sz="1050" dirty="0"/>
          </a:p>
        </p:txBody>
      </p:sp>
      <p:sp>
        <p:nvSpPr>
          <p:cNvPr id="26" name="Text 24"/>
          <p:cNvSpPr/>
          <p:nvPr/>
        </p:nvSpPr>
        <p:spPr>
          <a:xfrm>
            <a:off x="8805672" y="5248656"/>
            <a:ext cx="2423160" cy="676656"/>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Location</a:t>
            </a:r>
            <a:endParaRPr lang="en-US" sz="1200" dirty="0"/>
          </a:p>
        </p:txBody>
      </p:sp>
      <p:sp>
        <p:nvSpPr>
          <p:cNvPr id="27" name="Text 25"/>
          <p:cNvSpPr/>
          <p:nvPr/>
        </p:nvSpPr>
        <p:spPr>
          <a:xfrm>
            <a:off x="8092440" y="6236208"/>
            <a:ext cx="3291840" cy="365760"/>
          </a:xfrm>
          <a:prstGeom prst="rect">
            <a:avLst/>
          </a:prstGeom>
          <a:noFill/>
          <a:ln/>
        </p:spPr>
        <p:txBody>
          <a:bodyPr wrap="square"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Signals fused for one integrated risk picture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THE CHALLENGE</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Problem Statement</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6" name="Text 4"/>
          <p:cNvSpPr/>
          <p:nvPr/>
        </p:nvSpPr>
        <p:spPr>
          <a:xfrm>
            <a:off x="502920" y="1600200"/>
            <a:ext cx="6400800" cy="4035490"/>
          </a:xfrm>
          <a:prstGeom prst="rect">
            <a:avLst/>
          </a:prstGeom>
          <a:noFill/>
          <a:ln/>
        </p:spPr>
        <p:txBody>
          <a:bodyPr wrap="square" rtlCol="0" anchor="t"/>
          <a:lstStyle/>
          <a:p>
            <a:pPr marL="228600" indent="-228600">
              <a:spcAft>
                <a:spcPts val="1000"/>
              </a:spcAft>
              <a:buSzPct val="100000"/>
              <a:buChar char="▪"/>
            </a:pPr>
            <a:r>
              <a:rPr lang="en-US" dirty="0">
                <a:solidFill>
                  <a:srgbClr val="1B2430"/>
                </a:solidFill>
                <a:latin typeface="Calibri" pitchFamily="34" charset="0"/>
                <a:ea typeface="Calibri" pitchFamily="34" charset="-122"/>
                <a:cs typeface="Calibri" pitchFamily="34" charset="-120"/>
              </a:rPr>
              <a:t>Most wearable prototypes track only one or two signals — insufficient for complex events like acute stress, arrhythmia-like patterns, falls or emergencies.</a:t>
            </a:r>
            <a:endParaRPr lang="en-US" dirty="0"/>
          </a:p>
          <a:p>
            <a:pPr marL="228600" indent="-228600">
              <a:spcAft>
                <a:spcPts val="1000"/>
              </a:spcAft>
              <a:buSzPct val="100000"/>
              <a:buChar char="▪"/>
            </a:pPr>
            <a:r>
              <a:rPr lang="en-US" dirty="0">
                <a:solidFill>
                  <a:srgbClr val="1B2430"/>
                </a:solidFill>
                <a:latin typeface="Calibri" pitchFamily="34" charset="0"/>
                <a:ea typeface="Calibri" pitchFamily="34" charset="-122"/>
                <a:cs typeface="Calibri" pitchFamily="34" charset="-120"/>
              </a:rPr>
              <a:t>A single reading is ambiguous: high heart rate may mean exercise, anxiety, fever, sensor artifact, or a cardiac issue.</a:t>
            </a:r>
            <a:endParaRPr lang="en-US" dirty="0"/>
          </a:p>
          <a:p>
            <a:pPr marL="228600" indent="-228600">
              <a:spcAft>
                <a:spcPts val="1000"/>
              </a:spcAft>
              <a:buSzPct val="100000"/>
              <a:buChar char="▪"/>
            </a:pPr>
            <a:r>
              <a:rPr lang="en-US" dirty="0">
                <a:solidFill>
                  <a:srgbClr val="1B2430"/>
                </a:solidFill>
                <a:latin typeface="Calibri" pitchFamily="34" charset="0"/>
                <a:ea typeface="Calibri" pitchFamily="34" charset="-122"/>
                <a:cs typeface="Calibri" pitchFamily="34" charset="-120"/>
              </a:rPr>
              <a:t>A fall-like motion may be an actual collapse or just vigorous activity.</a:t>
            </a:r>
            <a:endParaRPr lang="en-US" dirty="0"/>
          </a:p>
          <a:p>
            <a:pPr marL="228600" indent="-228600">
              <a:spcAft>
                <a:spcPts val="1000"/>
              </a:spcAft>
              <a:buSzPct val="100000"/>
              <a:buChar char="▪"/>
            </a:pPr>
            <a:r>
              <a:rPr lang="en-US" dirty="0">
                <a:solidFill>
                  <a:srgbClr val="1B2430"/>
                </a:solidFill>
                <a:latin typeface="Calibri" pitchFamily="34" charset="0"/>
                <a:ea typeface="Calibri" pitchFamily="34" charset="-122"/>
                <a:cs typeface="Calibri" pitchFamily="34" charset="-120"/>
              </a:rPr>
              <a:t>Single-threshold decisions are unreliable for safety-critical alerts.</a:t>
            </a:r>
            <a:endParaRPr lang="en-US" dirty="0"/>
          </a:p>
        </p:txBody>
      </p:sp>
      <p:sp>
        <p:nvSpPr>
          <p:cNvPr id="7" name="Shape 5"/>
          <p:cNvSpPr/>
          <p:nvPr/>
        </p:nvSpPr>
        <p:spPr>
          <a:xfrm>
            <a:off x="7818120" y="1600200"/>
            <a:ext cx="3611880" cy="3200400"/>
          </a:xfrm>
          <a:prstGeom prst="roundRect">
            <a:avLst>
              <a:gd name="adj" fmla="val 2857"/>
            </a:avLst>
          </a:prstGeom>
          <a:solidFill>
            <a:srgbClr val="0B2545"/>
          </a:solidFill>
          <a:ln/>
          <a:effectLst>
            <a:outerShdw blurRad="76200" dist="25400" dir="5400000" algn="bl" rotWithShape="0">
              <a:srgbClr val="1B2430">
                <a:alpha val="20000"/>
              </a:srgbClr>
            </a:outerShdw>
          </a:effectLst>
        </p:spPr>
      </p:sp>
      <p:sp>
        <p:nvSpPr>
          <p:cNvPr id="8" name="Text 6"/>
          <p:cNvSpPr/>
          <p:nvPr/>
        </p:nvSpPr>
        <p:spPr>
          <a:xfrm>
            <a:off x="8046720" y="1783080"/>
            <a:ext cx="3200400" cy="365760"/>
          </a:xfrm>
          <a:prstGeom prst="rect">
            <a:avLst/>
          </a:prstGeom>
          <a:noFill/>
          <a:ln/>
        </p:spPr>
        <p:txBody>
          <a:bodyPr wrap="square" rtlCol="0" anchor="ctr"/>
          <a:lstStyle/>
          <a:p>
            <a:pPr marL="0" indent="0">
              <a:buNone/>
            </a:pPr>
            <a:r>
              <a:rPr lang="en-US" sz="1300" b="1" dirty="0">
                <a:solidFill>
                  <a:srgbClr val="118AB2"/>
                </a:solidFill>
                <a:latin typeface="Calibri" pitchFamily="34" charset="0"/>
                <a:ea typeface="Calibri" pitchFamily="34" charset="-122"/>
                <a:cs typeface="Calibri" pitchFamily="34" charset="-120"/>
              </a:rPr>
              <a:t>What's Needed</a:t>
            </a:r>
            <a:endParaRPr lang="en-US" sz="1300" dirty="0"/>
          </a:p>
        </p:txBody>
      </p:sp>
      <p:sp>
        <p:nvSpPr>
          <p:cNvPr id="9" name="Text 7"/>
          <p:cNvSpPr/>
          <p:nvPr/>
        </p:nvSpPr>
        <p:spPr>
          <a:xfrm>
            <a:off x="8046720" y="2194560"/>
            <a:ext cx="3200400" cy="2468880"/>
          </a:xfrm>
          <a:prstGeom prst="rect">
            <a:avLst/>
          </a:prstGeom>
          <a:noFill/>
          <a:ln/>
        </p:spPr>
        <p:txBody>
          <a:bodyPr wrap="square" rtlCol="0" anchor="ctr"/>
          <a:lstStyle/>
          <a:p>
            <a:pPr marL="0" indent="0">
              <a:lnSpc>
                <a:spcPct val="125000"/>
              </a:lnSpc>
              <a:buNone/>
            </a:pPr>
            <a:r>
              <a:rPr lang="en-US" sz="1250" dirty="0">
                <a:solidFill>
                  <a:srgbClr val="E3ECFA"/>
                </a:solidFill>
                <a:latin typeface="Calibri" pitchFamily="34" charset="0"/>
                <a:ea typeface="Calibri" pitchFamily="34" charset="-122"/>
                <a:cs typeface="Calibri" pitchFamily="34" charset="-120"/>
              </a:rPr>
              <a:t>A platform that continuously collects multi-sensor data, analyzes risk-relevant patterns, informs the user, and supports autonomous emergency escalation — without unsupported medical claims.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GOALS</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Project Objectives &amp; Scope</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6" name="Text 4"/>
          <p:cNvSpPr/>
          <p:nvPr/>
        </p:nvSpPr>
        <p:spPr>
          <a:xfrm>
            <a:off x="502920" y="1508760"/>
            <a:ext cx="3657600" cy="32004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Objectives</a:t>
            </a:r>
            <a:endParaRPr lang="en-US" sz="1500" dirty="0"/>
          </a:p>
        </p:txBody>
      </p:sp>
      <p:sp>
        <p:nvSpPr>
          <p:cNvPr id="7" name="Text 5"/>
          <p:cNvSpPr/>
          <p:nvPr/>
        </p:nvSpPr>
        <p:spPr>
          <a:xfrm>
            <a:off x="502920" y="1874520"/>
            <a:ext cx="6537960" cy="4206240"/>
          </a:xfrm>
          <a:prstGeom prst="rect">
            <a:avLst/>
          </a:prstGeom>
          <a:noFill/>
          <a:ln/>
        </p:spPr>
        <p:txBody>
          <a:bodyPr wrap="square" rtlCol="0" anchor="t"/>
          <a:lstStyle/>
          <a:p>
            <a:pPr marL="228600" indent="-228600">
              <a:spcAft>
                <a:spcPts val="700"/>
              </a:spcAft>
              <a:buSzPct val="100000"/>
              <a:buChar char="▪"/>
            </a:pPr>
            <a:r>
              <a:rPr lang="en-US" dirty="0">
                <a:solidFill>
                  <a:srgbClr val="1B2430"/>
                </a:solidFill>
                <a:latin typeface="Calibri" pitchFamily="34" charset="0"/>
                <a:ea typeface="Calibri" pitchFamily="34" charset="-122"/>
                <a:cs typeface="Calibri" pitchFamily="34" charset="-120"/>
              </a:rPr>
              <a:t>Interface all sensors (MAX30102, AD8232, GSR/EDA, ICM-42688, temperature, BMP390, GPS, SOS, vibration) with the XIAO ESP32-S3 over BLE.</a:t>
            </a:r>
            <a:endParaRPr lang="en-US" dirty="0"/>
          </a:p>
          <a:p>
            <a:pPr marL="228600" indent="-228600">
              <a:spcAft>
                <a:spcPts val="700"/>
              </a:spcAft>
              <a:buSzPct val="100000"/>
              <a:buChar char="▪"/>
            </a:pPr>
            <a:r>
              <a:rPr lang="en-US" dirty="0">
                <a:solidFill>
                  <a:srgbClr val="1B2430"/>
                </a:solidFill>
                <a:latin typeface="Calibri" pitchFamily="34" charset="0"/>
                <a:ea typeface="Calibri" pitchFamily="34" charset="-122"/>
                <a:cs typeface="Calibri" pitchFamily="34" charset="-120"/>
              </a:rPr>
              <a:t>Build a synchronized acquisition pipeline with timestamps, sampling policy and signal-quality checks.</a:t>
            </a:r>
            <a:endParaRPr lang="en-US" dirty="0"/>
          </a:p>
          <a:p>
            <a:pPr marL="228600" indent="-228600">
              <a:spcAft>
                <a:spcPts val="700"/>
              </a:spcAft>
              <a:buSzPct val="100000"/>
              <a:buChar char="▪"/>
            </a:pPr>
            <a:r>
              <a:rPr lang="en-US" dirty="0">
                <a:solidFill>
                  <a:srgbClr val="1B2430"/>
                </a:solidFill>
                <a:latin typeface="Calibri" pitchFamily="34" charset="0"/>
                <a:ea typeface="Calibri" pitchFamily="34" charset="-122"/>
                <a:cs typeface="Calibri" pitchFamily="34" charset="-120"/>
              </a:rPr>
              <a:t>Implement preprocessing for all signal modalities.</a:t>
            </a:r>
            <a:endParaRPr lang="en-US" dirty="0"/>
          </a:p>
          <a:p>
            <a:pPr marL="228600" indent="-228600">
              <a:spcAft>
                <a:spcPts val="700"/>
              </a:spcAft>
              <a:buSzPct val="100000"/>
              <a:buChar char="▪"/>
            </a:pPr>
            <a:r>
              <a:rPr lang="en-US" dirty="0">
                <a:solidFill>
                  <a:srgbClr val="1B2430"/>
                </a:solidFill>
                <a:latin typeface="Calibri" pitchFamily="34" charset="0"/>
                <a:ea typeface="Calibri" pitchFamily="34" charset="-122"/>
                <a:cs typeface="Calibri" pitchFamily="34" charset="-120"/>
              </a:rPr>
              <a:t>Train/evaluate stress, ECG/rhythm and fall/activity models on public + project data.</a:t>
            </a:r>
            <a:endParaRPr lang="en-US" dirty="0"/>
          </a:p>
          <a:p>
            <a:pPr marL="228600" indent="-228600">
              <a:spcAft>
                <a:spcPts val="700"/>
              </a:spcAft>
              <a:buSzPct val="100000"/>
              <a:buChar char="▪"/>
            </a:pPr>
            <a:r>
              <a:rPr lang="en-US" dirty="0">
                <a:solidFill>
                  <a:srgbClr val="1B2430"/>
                </a:solidFill>
                <a:latin typeface="Calibri" pitchFamily="34" charset="0"/>
                <a:ea typeface="Calibri" pitchFamily="34" charset="-122"/>
                <a:cs typeface="Calibri" pitchFamily="34" charset="-120"/>
              </a:rPr>
              <a:t>Build a Flutter app for dashboards, alerts and emergency-contact setup.</a:t>
            </a:r>
            <a:endParaRPr lang="en-US" dirty="0"/>
          </a:p>
          <a:p>
            <a:pPr marL="228600" indent="-228600">
              <a:spcAft>
                <a:spcPts val="700"/>
              </a:spcAft>
              <a:buSzPct val="100000"/>
              <a:buChar char="▪"/>
            </a:pPr>
            <a:r>
              <a:rPr lang="en-US" dirty="0">
                <a:solidFill>
                  <a:srgbClr val="1B2430"/>
                </a:solidFill>
                <a:latin typeface="Calibri" pitchFamily="34" charset="0"/>
                <a:ea typeface="Calibri" pitchFamily="34" charset="-122"/>
                <a:cs typeface="Calibri" pitchFamily="34" charset="-120"/>
              </a:rPr>
              <a:t>Design a graded emergency workflow with automatic and manual (SOS) triggers.</a:t>
            </a:r>
            <a:endParaRPr lang="en-US" dirty="0"/>
          </a:p>
          <a:p>
            <a:pPr marL="228600" indent="-228600">
              <a:spcAft>
                <a:spcPts val="700"/>
              </a:spcAft>
              <a:buSzPct val="100000"/>
              <a:buChar char="▪"/>
            </a:pPr>
            <a:r>
              <a:rPr lang="en-US" dirty="0">
                <a:solidFill>
                  <a:srgbClr val="1B2430"/>
                </a:solidFill>
                <a:latin typeface="Calibri" pitchFamily="34" charset="0"/>
                <a:ea typeface="Calibri" pitchFamily="34" charset="-122"/>
                <a:cs typeface="Calibri" pitchFamily="34" charset="-120"/>
              </a:rPr>
              <a:t>Validate the system with appropriate metrics, separating measured results from targets.</a:t>
            </a:r>
            <a:endParaRPr lang="en-US" dirty="0"/>
          </a:p>
        </p:txBody>
      </p:sp>
      <p:sp>
        <p:nvSpPr>
          <p:cNvPr id="8" name="Shape 6"/>
          <p:cNvSpPr/>
          <p:nvPr/>
        </p:nvSpPr>
        <p:spPr>
          <a:xfrm>
            <a:off x="7818120" y="1508760"/>
            <a:ext cx="3611880" cy="4343400"/>
          </a:xfrm>
          <a:prstGeom prst="roundRect">
            <a:avLst>
              <a:gd name="adj" fmla="val 2532"/>
            </a:avLst>
          </a:prstGeom>
          <a:solidFill>
            <a:srgbClr val="FFFFFF"/>
          </a:solidFill>
          <a:ln w="9525">
            <a:solidFill>
              <a:srgbClr val="E2E6ED"/>
            </a:solidFill>
            <a:prstDash val="solid"/>
          </a:ln>
          <a:effectLst>
            <a:outerShdw blurRad="76200" dist="25400" dir="5400000" algn="bl" rotWithShape="0">
              <a:srgbClr val="1B2430">
                <a:alpha val="16000"/>
              </a:srgbClr>
            </a:outerShdw>
          </a:effectLst>
        </p:spPr>
      </p:sp>
      <p:sp>
        <p:nvSpPr>
          <p:cNvPr id="9" name="Text 7"/>
          <p:cNvSpPr/>
          <p:nvPr/>
        </p:nvSpPr>
        <p:spPr>
          <a:xfrm>
            <a:off x="8028432" y="1691640"/>
            <a:ext cx="3200400" cy="320040"/>
          </a:xfrm>
          <a:prstGeom prst="rect">
            <a:avLst/>
          </a:prstGeom>
          <a:noFill/>
          <a:ln/>
        </p:spPr>
        <p:txBody>
          <a:bodyPr wrap="square"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Scope</a:t>
            </a:r>
            <a:endParaRPr lang="en-US" sz="1500" dirty="0"/>
          </a:p>
        </p:txBody>
      </p:sp>
      <p:sp>
        <p:nvSpPr>
          <p:cNvPr id="10" name="Text 8"/>
          <p:cNvSpPr/>
          <p:nvPr/>
        </p:nvSpPr>
        <p:spPr>
          <a:xfrm>
            <a:off x="8028432" y="2057400"/>
            <a:ext cx="3200400" cy="3657600"/>
          </a:xfrm>
          <a:prstGeom prst="rect">
            <a:avLst/>
          </a:prstGeom>
          <a:noFill/>
          <a:ln/>
        </p:spPr>
        <p:txBody>
          <a:bodyPr wrap="square" rtlCol="0" anchor="t"/>
          <a:lstStyle/>
          <a:p>
            <a:pPr marL="228600" indent="-228600">
              <a:spcAft>
                <a:spcPts val="800"/>
              </a:spcAft>
              <a:buSzPct val="100000"/>
              <a:buChar char="▪"/>
            </a:pPr>
            <a:r>
              <a:rPr lang="en-US" sz="1400" dirty="0">
                <a:solidFill>
                  <a:srgbClr val="1B2430"/>
                </a:solidFill>
                <a:latin typeface="Calibri" pitchFamily="34" charset="0"/>
                <a:ea typeface="Calibri" pitchFamily="34" charset="-122"/>
                <a:cs typeface="Calibri" pitchFamily="34" charset="-120"/>
              </a:rPr>
              <a:t>Multi-sensor wearable around XIAO ESP32-S3</a:t>
            </a:r>
            <a:endParaRPr lang="en-US" sz="1400" dirty="0"/>
          </a:p>
          <a:p>
            <a:pPr marL="228600" indent="-228600">
              <a:spcAft>
                <a:spcPts val="800"/>
              </a:spcAft>
              <a:buSzPct val="100000"/>
              <a:buChar char="▪"/>
            </a:pPr>
            <a:r>
              <a:rPr lang="en-US" sz="1400" dirty="0">
                <a:solidFill>
                  <a:srgbClr val="1B2430"/>
                </a:solidFill>
                <a:latin typeface="Calibri" pitchFamily="34" charset="0"/>
                <a:ea typeface="Calibri" pitchFamily="34" charset="-122"/>
                <a:cs typeface="Calibri" pitchFamily="34" charset="-120"/>
              </a:rPr>
              <a:t>Collect &amp; preprocess PPG, ECG, EDA, IMU, temperature, pressure, GPS, SOS data</a:t>
            </a:r>
            <a:endParaRPr lang="en-US" sz="1400" dirty="0"/>
          </a:p>
          <a:p>
            <a:pPr marL="228600" indent="-228600">
              <a:spcAft>
                <a:spcPts val="800"/>
              </a:spcAft>
              <a:buSzPct val="100000"/>
              <a:buChar char="▪"/>
            </a:pPr>
            <a:r>
              <a:rPr lang="en-US" sz="1400" dirty="0">
                <a:solidFill>
                  <a:srgbClr val="1B2430"/>
                </a:solidFill>
                <a:latin typeface="Calibri" pitchFamily="34" charset="0"/>
                <a:ea typeface="Calibri" pitchFamily="34" charset="-122"/>
                <a:cs typeface="Calibri" pitchFamily="34" charset="-120"/>
              </a:rPr>
              <a:t>AI + rule-assisted logic for stress, rhythm risk, fall detection, emergency escalation</a:t>
            </a:r>
            <a:endParaRPr lang="en-US" sz="1400" dirty="0"/>
          </a:p>
          <a:p>
            <a:pPr marL="228600" indent="-228600">
              <a:spcAft>
                <a:spcPts val="800"/>
              </a:spcAft>
              <a:buSzPct val="100000"/>
              <a:buChar char="▪"/>
            </a:pPr>
            <a:r>
              <a:rPr lang="en-US" sz="1400" dirty="0">
                <a:solidFill>
                  <a:srgbClr val="1B2430"/>
                </a:solidFill>
                <a:latin typeface="Calibri" pitchFamily="34" charset="0"/>
                <a:ea typeface="Calibri" pitchFamily="34" charset="-122"/>
                <a:cs typeface="Calibri" pitchFamily="34" charset="-120"/>
              </a:rPr>
              <a:t>Flutter app for BLE, visualization, alerts, emergency workflow</a:t>
            </a:r>
            <a:endParaRPr lang="en-US" sz="1400" dirty="0"/>
          </a:p>
          <a:p>
            <a:pPr marL="228600" indent="-228600">
              <a:spcAft>
                <a:spcPts val="800"/>
              </a:spcAft>
              <a:buSzPct val="100000"/>
              <a:buChar char="▪"/>
            </a:pPr>
            <a:r>
              <a:rPr lang="en-US" sz="1400" dirty="0">
                <a:solidFill>
                  <a:srgbClr val="1B2430"/>
                </a:solidFill>
                <a:latin typeface="Calibri" pitchFamily="34" charset="0"/>
                <a:ea typeface="Calibri" pitchFamily="34" charset="-122"/>
                <a:cs typeface="Calibri" pitchFamily="34" charset="-120"/>
              </a:rPr>
              <a:t>Validation via engineering metrics; unmeasured values clearly marked as targets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PROPOSED SOLUTION</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Proposed System Overview</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
        <p:nvSpPr>
          <p:cNvPr id="6" name="Text 4"/>
          <p:cNvSpPr/>
          <p:nvPr/>
        </p:nvSpPr>
        <p:spPr>
          <a:xfrm>
            <a:off x="502920" y="1508760"/>
            <a:ext cx="11155680" cy="457200"/>
          </a:xfrm>
          <a:prstGeom prst="rect">
            <a:avLst/>
          </a:prstGeom>
          <a:noFill/>
          <a:ln/>
        </p:spPr>
        <p:txBody>
          <a:bodyPr wrap="square" rtlCol="0" anchor="ctr"/>
          <a:lstStyle/>
          <a:p>
            <a:pPr marL="0" indent="0">
              <a:buNone/>
            </a:pPr>
            <a:r>
              <a:rPr lang="en-US" sz="1350" i="1" dirty="0">
                <a:solidFill>
                  <a:srgbClr val="1B2430"/>
                </a:solidFill>
                <a:latin typeface="Calibri" pitchFamily="34" charset="0"/>
                <a:ea typeface="Calibri" pitchFamily="34" charset="-122"/>
                <a:cs typeface="Calibri" pitchFamily="34" charset="-120"/>
              </a:rPr>
              <a:t>NeuroGuardian X combines five subsystems into one continuous-monitoring, sensor-fusion emergency platform:</a:t>
            </a:r>
            <a:endParaRPr lang="en-US" sz="1350" dirty="0"/>
          </a:p>
        </p:txBody>
      </p:sp>
      <p:sp>
        <p:nvSpPr>
          <p:cNvPr id="7" name="Shape 5"/>
          <p:cNvSpPr/>
          <p:nvPr/>
        </p:nvSpPr>
        <p:spPr>
          <a:xfrm>
            <a:off x="502920" y="2103120"/>
            <a:ext cx="11183112" cy="777240"/>
          </a:xfrm>
          <a:prstGeom prst="roundRect">
            <a:avLst>
              <a:gd name="adj" fmla="val 8235"/>
            </a:avLst>
          </a:prstGeom>
          <a:solidFill>
            <a:srgbClr val="FFFFFF"/>
          </a:solidFill>
          <a:ln w="9525">
            <a:solidFill>
              <a:srgbClr val="E2E6ED"/>
            </a:solidFill>
            <a:prstDash val="solid"/>
          </a:ln>
          <a:effectLst>
            <a:outerShdw blurRad="50800" dist="12700" dir="5400000" algn="bl" rotWithShape="0">
              <a:srgbClr val="1B2430">
                <a:alpha val="10000"/>
              </a:srgbClr>
            </a:outerShdw>
          </a:effectLst>
        </p:spPr>
      </p:sp>
      <p:sp>
        <p:nvSpPr>
          <p:cNvPr id="8" name="Shape 6"/>
          <p:cNvSpPr/>
          <p:nvPr/>
        </p:nvSpPr>
        <p:spPr>
          <a:xfrm>
            <a:off x="667512" y="2295144"/>
            <a:ext cx="402336" cy="402336"/>
          </a:xfrm>
          <a:prstGeom prst="ellipse">
            <a:avLst/>
          </a:prstGeom>
          <a:solidFill>
            <a:srgbClr val="118AB2"/>
          </a:solidFill>
          <a:ln/>
        </p:spPr>
      </p:sp>
      <p:sp>
        <p:nvSpPr>
          <p:cNvPr id="9" name="Text 7"/>
          <p:cNvSpPr/>
          <p:nvPr/>
        </p:nvSpPr>
        <p:spPr>
          <a:xfrm>
            <a:off x="667512" y="2295144"/>
            <a:ext cx="402336" cy="402336"/>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234440" y="2157984"/>
            <a:ext cx="2834640" cy="667512"/>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Wearable Sensor Node</a:t>
            </a:r>
            <a:endParaRPr lang="en-US" sz="1300" dirty="0"/>
          </a:p>
        </p:txBody>
      </p:sp>
      <p:sp>
        <p:nvSpPr>
          <p:cNvPr id="11" name="Text 9"/>
          <p:cNvSpPr/>
          <p:nvPr/>
        </p:nvSpPr>
        <p:spPr>
          <a:xfrm>
            <a:off x="4160520" y="2157984"/>
            <a:ext cx="7452360" cy="667512"/>
          </a:xfrm>
          <a:prstGeom prst="rect">
            <a:avLst/>
          </a:prstGeom>
          <a:noFill/>
          <a:ln/>
        </p:spPr>
        <p:txBody>
          <a:bodyPr wrap="square" rtlCol="0" anchor="ctr"/>
          <a:lstStyle/>
          <a:p>
            <a:pPr marL="0" indent="0">
              <a:buNone/>
            </a:pPr>
            <a:r>
              <a:rPr lang="en-US" sz="1150" dirty="0">
                <a:solidFill>
                  <a:srgbClr val="5B6472"/>
                </a:solidFill>
                <a:latin typeface="Calibri" pitchFamily="34" charset="0"/>
                <a:ea typeface="Calibri" pitchFamily="34" charset="-122"/>
                <a:cs typeface="Calibri" pitchFamily="34" charset="-120"/>
              </a:rPr>
              <a:t>Collects synchronized physiological, motion, environmental and emergency-input signals.</a:t>
            </a:r>
            <a:endParaRPr lang="en-US" sz="1150" dirty="0"/>
          </a:p>
        </p:txBody>
      </p:sp>
      <p:sp>
        <p:nvSpPr>
          <p:cNvPr id="12" name="Shape 10"/>
          <p:cNvSpPr/>
          <p:nvPr/>
        </p:nvSpPr>
        <p:spPr>
          <a:xfrm>
            <a:off x="502920" y="2980944"/>
            <a:ext cx="11183112" cy="777240"/>
          </a:xfrm>
          <a:prstGeom prst="roundRect">
            <a:avLst>
              <a:gd name="adj" fmla="val 8235"/>
            </a:avLst>
          </a:prstGeom>
          <a:solidFill>
            <a:srgbClr val="FFFFFF"/>
          </a:solidFill>
          <a:ln w="9525">
            <a:solidFill>
              <a:srgbClr val="E2E6ED"/>
            </a:solidFill>
            <a:prstDash val="solid"/>
          </a:ln>
          <a:effectLst>
            <a:outerShdw blurRad="50800" dist="12700" dir="5400000" algn="bl" rotWithShape="0">
              <a:srgbClr val="1B2430">
                <a:alpha val="10000"/>
              </a:srgbClr>
            </a:outerShdw>
          </a:effectLst>
        </p:spPr>
      </p:sp>
      <p:sp>
        <p:nvSpPr>
          <p:cNvPr id="13" name="Shape 11"/>
          <p:cNvSpPr/>
          <p:nvPr/>
        </p:nvSpPr>
        <p:spPr>
          <a:xfrm>
            <a:off x="667512" y="3172968"/>
            <a:ext cx="402336" cy="402336"/>
          </a:xfrm>
          <a:prstGeom prst="ellipse">
            <a:avLst/>
          </a:prstGeom>
          <a:solidFill>
            <a:srgbClr val="6C5CE7"/>
          </a:solidFill>
          <a:ln/>
        </p:spPr>
      </p:sp>
      <p:sp>
        <p:nvSpPr>
          <p:cNvPr id="14" name="Text 12"/>
          <p:cNvSpPr/>
          <p:nvPr/>
        </p:nvSpPr>
        <p:spPr>
          <a:xfrm>
            <a:off x="667512" y="3172968"/>
            <a:ext cx="402336" cy="402336"/>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1234440" y="3035808"/>
            <a:ext cx="2834640" cy="667512"/>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Embedded Processing</a:t>
            </a:r>
            <a:endParaRPr lang="en-US" sz="1300" dirty="0"/>
          </a:p>
        </p:txBody>
      </p:sp>
      <p:sp>
        <p:nvSpPr>
          <p:cNvPr id="16" name="Text 14"/>
          <p:cNvSpPr/>
          <p:nvPr/>
        </p:nvSpPr>
        <p:spPr>
          <a:xfrm>
            <a:off x="4160520" y="3035808"/>
            <a:ext cx="7452360" cy="667512"/>
          </a:xfrm>
          <a:prstGeom prst="rect">
            <a:avLst/>
          </a:prstGeom>
          <a:noFill/>
          <a:ln/>
        </p:spPr>
        <p:txBody>
          <a:bodyPr wrap="square" rtlCol="0" anchor="ctr"/>
          <a:lstStyle/>
          <a:p>
            <a:pPr marL="0" indent="0">
              <a:buNone/>
            </a:pPr>
            <a:r>
              <a:rPr lang="en-US" sz="1150" dirty="0">
                <a:solidFill>
                  <a:srgbClr val="5B6472"/>
                </a:solidFill>
                <a:latin typeface="Calibri" pitchFamily="34" charset="0"/>
                <a:ea typeface="Calibri" pitchFamily="34" charset="-122"/>
                <a:cs typeface="Calibri" pitchFamily="34" charset="-120"/>
              </a:rPr>
              <a:t>Sampling control, preprocessing, feature extraction, threshold checks, BLE packets, low-power operation.</a:t>
            </a:r>
            <a:endParaRPr lang="en-US" sz="1150" dirty="0"/>
          </a:p>
        </p:txBody>
      </p:sp>
      <p:sp>
        <p:nvSpPr>
          <p:cNvPr id="17" name="Shape 15"/>
          <p:cNvSpPr/>
          <p:nvPr/>
        </p:nvSpPr>
        <p:spPr>
          <a:xfrm>
            <a:off x="502920" y="3858768"/>
            <a:ext cx="11183112" cy="777240"/>
          </a:xfrm>
          <a:prstGeom prst="roundRect">
            <a:avLst>
              <a:gd name="adj" fmla="val 8235"/>
            </a:avLst>
          </a:prstGeom>
          <a:solidFill>
            <a:srgbClr val="FFFFFF"/>
          </a:solidFill>
          <a:ln w="9525">
            <a:solidFill>
              <a:srgbClr val="E2E6ED"/>
            </a:solidFill>
            <a:prstDash val="solid"/>
          </a:ln>
          <a:effectLst>
            <a:outerShdw blurRad="50800" dist="12700" dir="5400000" algn="bl" rotWithShape="0">
              <a:srgbClr val="1B2430">
                <a:alpha val="10000"/>
              </a:srgbClr>
            </a:outerShdw>
          </a:effectLst>
        </p:spPr>
      </p:sp>
      <p:sp>
        <p:nvSpPr>
          <p:cNvPr id="18" name="Shape 16"/>
          <p:cNvSpPr/>
          <p:nvPr/>
        </p:nvSpPr>
        <p:spPr>
          <a:xfrm>
            <a:off x="667512" y="4050792"/>
            <a:ext cx="402336" cy="402336"/>
          </a:xfrm>
          <a:prstGeom prst="ellipse">
            <a:avLst/>
          </a:prstGeom>
          <a:solidFill>
            <a:srgbClr val="F1962B"/>
          </a:solidFill>
          <a:ln/>
        </p:spPr>
      </p:sp>
      <p:sp>
        <p:nvSpPr>
          <p:cNvPr id="19" name="Text 17"/>
          <p:cNvSpPr/>
          <p:nvPr/>
        </p:nvSpPr>
        <p:spPr>
          <a:xfrm>
            <a:off x="667512" y="4050792"/>
            <a:ext cx="402336" cy="402336"/>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1234440" y="3913632"/>
            <a:ext cx="2834640" cy="667512"/>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AI / Risk Layer</a:t>
            </a:r>
            <a:endParaRPr lang="en-US" sz="1300" dirty="0"/>
          </a:p>
        </p:txBody>
      </p:sp>
      <p:sp>
        <p:nvSpPr>
          <p:cNvPr id="21" name="Text 19"/>
          <p:cNvSpPr/>
          <p:nvPr/>
        </p:nvSpPr>
        <p:spPr>
          <a:xfrm>
            <a:off x="4160520" y="3913632"/>
            <a:ext cx="7452360" cy="667512"/>
          </a:xfrm>
          <a:prstGeom prst="rect">
            <a:avLst/>
          </a:prstGeom>
          <a:noFill/>
          <a:ln/>
        </p:spPr>
        <p:txBody>
          <a:bodyPr wrap="square" rtlCol="0" anchor="ctr"/>
          <a:lstStyle/>
          <a:p>
            <a:pPr marL="0" indent="0">
              <a:buNone/>
            </a:pPr>
            <a:r>
              <a:rPr lang="en-US" sz="1150" dirty="0">
                <a:solidFill>
                  <a:srgbClr val="5B6472"/>
                </a:solidFill>
                <a:latin typeface="Calibri" pitchFamily="34" charset="0"/>
                <a:ea typeface="Calibri" pitchFamily="34" charset="-122"/>
                <a:cs typeface="Calibri" pitchFamily="34" charset="-120"/>
              </a:rPr>
              <a:t>Combines stress, rhythm, fall/activity, signal-quality and manual SOS signals into risk states.</a:t>
            </a:r>
            <a:endParaRPr lang="en-US" sz="1150" dirty="0"/>
          </a:p>
        </p:txBody>
      </p:sp>
      <p:sp>
        <p:nvSpPr>
          <p:cNvPr id="22" name="Shape 20"/>
          <p:cNvSpPr/>
          <p:nvPr/>
        </p:nvSpPr>
        <p:spPr>
          <a:xfrm>
            <a:off x="502920" y="4736592"/>
            <a:ext cx="11183112" cy="777240"/>
          </a:xfrm>
          <a:prstGeom prst="roundRect">
            <a:avLst>
              <a:gd name="adj" fmla="val 8235"/>
            </a:avLst>
          </a:prstGeom>
          <a:solidFill>
            <a:srgbClr val="FFFFFF"/>
          </a:solidFill>
          <a:ln w="9525">
            <a:solidFill>
              <a:srgbClr val="E2E6ED"/>
            </a:solidFill>
            <a:prstDash val="solid"/>
          </a:ln>
          <a:effectLst>
            <a:outerShdw blurRad="50800" dist="12700" dir="5400000" algn="bl" rotWithShape="0">
              <a:srgbClr val="1B2430">
                <a:alpha val="10000"/>
              </a:srgbClr>
            </a:outerShdw>
          </a:effectLst>
        </p:spPr>
      </p:sp>
      <p:sp>
        <p:nvSpPr>
          <p:cNvPr id="23" name="Shape 21"/>
          <p:cNvSpPr/>
          <p:nvPr/>
        </p:nvSpPr>
        <p:spPr>
          <a:xfrm>
            <a:off x="667512" y="4928616"/>
            <a:ext cx="402336" cy="402336"/>
          </a:xfrm>
          <a:prstGeom prst="ellipse">
            <a:avLst/>
          </a:prstGeom>
          <a:solidFill>
            <a:srgbClr val="2DA44E"/>
          </a:solidFill>
          <a:ln/>
        </p:spPr>
      </p:sp>
      <p:sp>
        <p:nvSpPr>
          <p:cNvPr id="24" name="Text 22"/>
          <p:cNvSpPr/>
          <p:nvPr/>
        </p:nvSpPr>
        <p:spPr>
          <a:xfrm>
            <a:off x="667512" y="4928616"/>
            <a:ext cx="402336" cy="402336"/>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1234440" y="4791456"/>
            <a:ext cx="2834640" cy="667512"/>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Mobile Application</a:t>
            </a:r>
            <a:endParaRPr lang="en-US" sz="1300" dirty="0"/>
          </a:p>
        </p:txBody>
      </p:sp>
      <p:sp>
        <p:nvSpPr>
          <p:cNvPr id="26" name="Text 24"/>
          <p:cNvSpPr/>
          <p:nvPr/>
        </p:nvSpPr>
        <p:spPr>
          <a:xfrm>
            <a:off x="4160520" y="4791456"/>
            <a:ext cx="7452360" cy="667512"/>
          </a:xfrm>
          <a:prstGeom prst="rect">
            <a:avLst/>
          </a:prstGeom>
          <a:noFill/>
          <a:ln/>
        </p:spPr>
        <p:txBody>
          <a:bodyPr wrap="square" rtlCol="0" anchor="ctr"/>
          <a:lstStyle/>
          <a:p>
            <a:pPr marL="0" indent="0">
              <a:buNone/>
            </a:pPr>
            <a:r>
              <a:rPr lang="en-US" sz="1150" dirty="0">
                <a:solidFill>
                  <a:srgbClr val="5B6472"/>
                </a:solidFill>
                <a:latin typeface="Calibri" pitchFamily="34" charset="0"/>
                <a:ea typeface="Calibri" pitchFamily="34" charset="-122"/>
                <a:cs typeface="Calibri" pitchFamily="34" charset="-120"/>
              </a:rPr>
              <a:t>Displays live readings, stores logs, configures emergency contacts, communicates warnings.</a:t>
            </a:r>
            <a:endParaRPr lang="en-US" sz="1150" dirty="0"/>
          </a:p>
        </p:txBody>
      </p:sp>
      <p:sp>
        <p:nvSpPr>
          <p:cNvPr id="27" name="Shape 25"/>
          <p:cNvSpPr/>
          <p:nvPr/>
        </p:nvSpPr>
        <p:spPr>
          <a:xfrm>
            <a:off x="502920" y="5614416"/>
            <a:ext cx="11183112" cy="777240"/>
          </a:xfrm>
          <a:prstGeom prst="roundRect">
            <a:avLst>
              <a:gd name="adj" fmla="val 8235"/>
            </a:avLst>
          </a:prstGeom>
          <a:solidFill>
            <a:srgbClr val="FFFFFF"/>
          </a:solidFill>
          <a:ln w="9525">
            <a:solidFill>
              <a:srgbClr val="E2E6ED"/>
            </a:solidFill>
            <a:prstDash val="solid"/>
          </a:ln>
          <a:effectLst>
            <a:outerShdw blurRad="50800" dist="12700" dir="5400000" algn="bl" rotWithShape="0">
              <a:srgbClr val="1B2430">
                <a:alpha val="10000"/>
              </a:srgbClr>
            </a:outerShdw>
          </a:effectLst>
        </p:spPr>
      </p:sp>
      <p:sp>
        <p:nvSpPr>
          <p:cNvPr id="28" name="Shape 26"/>
          <p:cNvSpPr/>
          <p:nvPr/>
        </p:nvSpPr>
        <p:spPr>
          <a:xfrm>
            <a:off x="667512" y="5806440"/>
            <a:ext cx="402336" cy="402336"/>
          </a:xfrm>
          <a:prstGeom prst="ellipse">
            <a:avLst/>
          </a:prstGeom>
          <a:solidFill>
            <a:srgbClr val="E63946"/>
          </a:solidFill>
          <a:ln/>
        </p:spPr>
      </p:sp>
      <p:sp>
        <p:nvSpPr>
          <p:cNvPr id="29" name="Text 27"/>
          <p:cNvSpPr/>
          <p:nvPr/>
        </p:nvSpPr>
        <p:spPr>
          <a:xfrm>
            <a:off x="667512" y="5806440"/>
            <a:ext cx="402336" cy="402336"/>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p:nvPr/>
        </p:nvSpPr>
        <p:spPr>
          <a:xfrm>
            <a:off x="1234440" y="5669280"/>
            <a:ext cx="2834640" cy="667512"/>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Emergency Workflow</a:t>
            </a:r>
            <a:endParaRPr lang="en-US" sz="1300" dirty="0"/>
          </a:p>
        </p:txBody>
      </p:sp>
      <p:sp>
        <p:nvSpPr>
          <p:cNvPr id="31" name="Text 29"/>
          <p:cNvSpPr/>
          <p:nvPr/>
        </p:nvSpPr>
        <p:spPr>
          <a:xfrm>
            <a:off x="4160520" y="5669280"/>
            <a:ext cx="7452360" cy="667512"/>
          </a:xfrm>
          <a:prstGeom prst="rect">
            <a:avLst/>
          </a:prstGeom>
          <a:noFill/>
          <a:ln/>
        </p:spPr>
        <p:txBody>
          <a:bodyPr wrap="square" rtlCol="0" anchor="ctr"/>
          <a:lstStyle/>
          <a:p>
            <a:pPr marL="0" indent="0">
              <a:buNone/>
            </a:pPr>
            <a:r>
              <a:rPr lang="en-US" sz="1150" dirty="0">
                <a:solidFill>
                  <a:srgbClr val="5B6472"/>
                </a:solidFill>
                <a:latin typeface="Calibri" pitchFamily="34" charset="0"/>
                <a:ea typeface="Calibri" pitchFamily="34" charset="-122"/>
                <a:cs typeface="Calibri" pitchFamily="34" charset="-120"/>
              </a:rPr>
              <a:t>Vibration, app notification, SOS confirmation, GPS location and guardian alert logic.</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Overall System Architecture</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02920" y="1737360"/>
            <a:ext cx="2514600" cy="1051560"/>
          </a:xfrm>
          <a:prstGeom prst="roundRect">
            <a:avLst>
              <a:gd name="adj" fmla="val 5217"/>
            </a:avLst>
          </a:prstGeom>
          <a:solidFill>
            <a:srgbClr val="FFFFFF"/>
          </a:solidFill>
          <a:ln w="19050">
            <a:solidFill>
              <a:srgbClr val="118AB2"/>
            </a:solidFill>
            <a:prstDash val="solid"/>
          </a:ln>
          <a:effectLst>
            <a:outerShdw blurRad="50800" dist="12700" dir="5400000" algn="bl" rotWithShape="0">
              <a:srgbClr val="1B2430">
                <a:alpha val="12000"/>
              </a:srgbClr>
            </a:outerShdw>
          </a:effectLst>
        </p:spPr>
      </p:sp>
      <p:sp>
        <p:nvSpPr>
          <p:cNvPr id="7" name="Text 5"/>
          <p:cNvSpPr/>
          <p:nvPr/>
        </p:nvSpPr>
        <p:spPr>
          <a:xfrm>
            <a:off x="576072" y="1792224"/>
            <a:ext cx="2368296" cy="94183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Wearable Sensor Layer</a:t>
            </a:r>
            <a:endParaRPr lang="en-US" sz="1150" dirty="0"/>
          </a:p>
          <a:p>
            <a:pPr marL="0" indent="0" algn="ctr">
              <a:buNone/>
            </a:pPr>
            <a:r>
              <a:rPr lang="en-US" sz="900" dirty="0">
                <a:solidFill>
                  <a:srgbClr val="5B6472"/>
                </a:solidFill>
                <a:latin typeface="Calibri" pitchFamily="34" charset="0"/>
                <a:ea typeface="Calibri" pitchFamily="34" charset="-122"/>
                <a:cs typeface="Calibri" pitchFamily="34" charset="-120"/>
              </a:rPr>
              <a:t>PPG, ECG, EDA, IMU, Temp, BMP390, GPS</a:t>
            </a:r>
            <a:endParaRPr lang="en-US" sz="1150" dirty="0"/>
          </a:p>
        </p:txBody>
      </p:sp>
      <p:sp>
        <p:nvSpPr>
          <p:cNvPr id="8" name="Shape 6"/>
          <p:cNvSpPr/>
          <p:nvPr/>
        </p:nvSpPr>
        <p:spPr>
          <a:xfrm>
            <a:off x="3273552" y="1737360"/>
            <a:ext cx="2514600" cy="1051560"/>
          </a:xfrm>
          <a:prstGeom prst="roundRect">
            <a:avLst>
              <a:gd name="adj" fmla="val 5217"/>
            </a:avLst>
          </a:prstGeom>
          <a:solidFill>
            <a:srgbClr val="FFFFFF"/>
          </a:solidFill>
          <a:ln w="19050">
            <a:solidFill>
              <a:srgbClr val="6C5CE7"/>
            </a:solidFill>
            <a:prstDash val="solid"/>
          </a:ln>
          <a:effectLst>
            <a:outerShdw blurRad="50800" dist="12700" dir="5400000" algn="bl" rotWithShape="0">
              <a:srgbClr val="1B2430">
                <a:alpha val="12000"/>
              </a:srgbClr>
            </a:outerShdw>
          </a:effectLst>
        </p:spPr>
      </p:sp>
      <p:sp>
        <p:nvSpPr>
          <p:cNvPr id="9" name="Text 7"/>
          <p:cNvSpPr/>
          <p:nvPr/>
        </p:nvSpPr>
        <p:spPr>
          <a:xfrm>
            <a:off x="3346704" y="1792224"/>
            <a:ext cx="2368296" cy="94183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XIAO ESP32-S3</a:t>
            </a:r>
            <a:endParaRPr lang="en-US" sz="1150" dirty="0"/>
          </a:p>
          <a:p>
            <a:pPr marL="0" indent="0" algn="ctr">
              <a:buNone/>
            </a:pPr>
            <a:r>
              <a:rPr lang="en-US" sz="900" dirty="0">
                <a:solidFill>
                  <a:srgbClr val="5B6472"/>
                </a:solidFill>
                <a:latin typeface="Calibri" pitchFamily="34" charset="0"/>
                <a:ea typeface="Calibri" pitchFamily="34" charset="-122"/>
                <a:cs typeface="Calibri" pitchFamily="34" charset="-120"/>
              </a:rPr>
              <a:t>Acquisition, filtering, BLE</a:t>
            </a:r>
            <a:endParaRPr lang="en-US" sz="1150" dirty="0"/>
          </a:p>
        </p:txBody>
      </p:sp>
      <p:sp>
        <p:nvSpPr>
          <p:cNvPr id="10" name="Shape 8"/>
          <p:cNvSpPr/>
          <p:nvPr/>
        </p:nvSpPr>
        <p:spPr>
          <a:xfrm>
            <a:off x="6044184" y="1737360"/>
            <a:ext cx="2514600" cy="1051560"/>
          </a:xfrm>
          <a:prstGeom prst="roundRect">
            <a:avLst>
              <a:gd name="adj" fmla="val 5217"/>
            </a:avLst>
          </a:prstGeom>
          <a:solidFill>
            <a:srgbClr val="FFFFFF"/>
          </a:solidFill>
          <a:ln w="19050">
            <a:solidFill>
              <a:srgbClr val="2DA44E"/>
            </a:solidFill>
            <a:prstDash val="solid"/>
          </a:ln>
          <a:effectLst>
            <a:outerShdw blurRad="50800" dist="12700" dir="5400000" algn="bl" rotWithShape="0">
              <a:srgbClr val="1B2430">
                <a:alpha val="12000"/>
              </a:srgbClr>
            </a:outerShdw>
          </a:effectLst>
        </p:spPr>
      </p:sp>
      <p:sp>
        <p:nvSpPr>
          <p:cNvPr id="11" name="Text 9"/>
          <p:cNvSpPr/>
          <p:nvPr/>
        </p:nvSpPr>
        <p:spPr>
          <a:xfrm>
            <a:off x="6117336" y="1792224"/>
            <a:ext cx="2368296" cy="94183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Flutter Mobile App</a:t>
            </a:r>
            <a:endParaRPr lang="en-US" sz="1150" dirty="0"/>
          </a:p>
          <a:p>
            <a:pPr marL="0" indent="0" algn="ctr">
              <a:buNone/>
            </a:pPr>
            <a:r>
              <a:rPr lang="en-US" sz="900" dirty="0">
                <a:solidFill>
                  <a:srgbClr val="5B6472"/>
                </a:solidFill>
                <a:latin typeface="Calibri" pitchFamily="34" charset="0"/>
                <a:ea typeface="Calibri" pitchFamily="34" charset="-122"/>
                <a:cs typeface="Calibri" pitchFamily="34" charset="-120"/>
              </a:rPr>
              <a:t>Dashboard, alerts, consent, logs</a:t>
            </a:r>
            <a:endParaRPr lang="en-US" sz="1150" dirty="0"/>
          </a:p>
        </p:txBody>
      </p:sp>
      <p:sp>
        <p:nvSpPr>
          <p:cNvPr id="12" name="Shape 10"/>
          <p:cNvSpPr/>
          <p:nvPr/>
        </p:nvSpPr>
        <p:spPr>
          <a:xfrm>
            <a:off x="8814816" y="1737360"/>
            <a:ext cx="2514600" cy="1051560"/>
          </a:xfrm>
          <a:prstGeom prst="roundRect">
            <a:avLst>
              <a:gd name="adj" fmla="val 5217"/>
            </a:avLst>
          </a:prstGeom>
          <a:solidFill>
            <a:srgbClr val="FFFFFF"/>
          </a:solidFill>
          <a:ln w="19050">
            <a:solidFill>
              <a:srgbClr val="F1962B"/>
            </a:solidFill>
            <a:prstDash val="solid"/>
          </a:ln>
          <a:effectLst>
            <a:outerShdw blurRad="50800" dist="12700" dir="5400000" algn="bl" rotWithShape="0">
              <a:srgbClr val="1B2430">
                <a:alpha val="12000"/>
              </a:srgbClr>
            </a:outerShdw>
          </a:effectLst>
        </p:spPr>
      </p:sp>
      <p:sp>
        <p:nvSpPr>
          <p:cNvPr id="13" name="Text 11"/>
          <p:cNvSpPr/>
          <p:nvPr/>
        </p:nvSpPr>
        <p:spPr>
          <a:xfrm>
            <a:off x="8887968" y="1792224"/>
            <a:ext cx="2368296" cy="94183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Optional Secure Updates</a:t>
            </a:r>
            <a:endParaRPr lang="en-US" sz="1150" dirty="0"/>
          </a:p>
          <a:p>
            <a:pPr marL="0" indent="0" algn="ctr">
              <a:buNone/>
            </a:pPr>
            <a:r>
              <a:rPr lang="en-US" sz="900" dirty="0">
                <a:solidFill>
                  <a:srgbClr val="5B6472"/>
                </a:solidFill>
                <a:latin typeface="Calibri" pitchFamily="34" charset="0"/>
                <a:ea typeface="Calibri" pitchFamily="34" charset="-122"/>
                <a:cs typeface="Calibri" pitchFamily="34" charset="-120"/>
              </a:rPr>
              <a:t>Model updates &amp; reports</a:t>
            </a:r>
            <a:endParaRPr lang="en-US" sz="1150" dirty="0"/>
          </a:p>
        </p:txBody>
      </p:sp>
      <p:sp>
        <p:nvSpPr>
          <p:cNvPr id="14" name="Shape 12"/>
          <p:cNvSpPr/>
          <p:nvPr/>
        </p:nvSpPr>
        <p:spPr>
          <a:xfrm>
            <a:off x="868680" y="3931920"/>
            <a:ext cx="3017520" cy="1051560"/>
          </a:xfrm>
          <a:prstGeom prst="roundRect">
            <a:avLst>
              <a:gd name="adj" fmla="val 5217"/>
            </a:avLst>
          </a:prstGeom>
          <a:solidFill>
            <a:srgbClr val="FFFFFF"/>
          </a:solidFill>
          <a:ln w="19050">
            <a:solidFill>
              <a:srgbClr val="0B2545"/>
            </a:solidFill>
            <a:prstDash val="solid"/>
          </a:ln>
          <a:effectLst>
            <a:outerShdw blurRad="50800" dist="12700" dir="5400000" algn="bl" rotWithShape="0">
              <a:srgbClr val="1B2430">
                <a:alpha val="12000"/>
              </a:srgbClr>
            </a:outerShdw>
          </a:effectLst>
        </p:spPr>
      </p:sp>
      <p:sp>
        <p:nvSpPr>
          <p:cNvPr id="15" name="Text 13"/>
          <p:cNvSpPr/>
          <p:nvPr/>
        </p:nvSpPr>
        <p:spPr>
          <a:xfrm>
            <a:off x="941832" y="3986784"/>
            <a:ext cx="2871216" cy="94183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On-device Risk Engine</a:t>
            </a:r>
            <a:endParaRPr lang="en-US" sz="1150" dirty="0"/>
          </a:p>
          <a:p>
            <a:pPr marL="0" indent="0" algn="ctr">
              <a:buNone/>
            </a:pPr>
            <a:r>
              <a:rPr lang="en-US" sz="900" dirty="0">
                <a:solidFill>
                  <a:srgbClr val="5B6472"/>
                </a:solidFill>
                <a:latin typeface="Calibri" pitchFamily="34" charset="0"/>
                <a:ea typeface="Calibri" pitchFamily="34" charset="-122"/>
                <a:cs typeface="Calibri" pitchFamily="34" charset="-120"/>
              </a:rPr>
              <a:t>Stress, rhythm, fall, SOS logic</a:t>
            </a:r>
            <a:endParaRPr lang="en-US" sz="1150" dirty="0"/>
          </a:p>
        </p:txBody>
      </p:sp>
      <p:sp>
        <p:nvSpPr>
          <p:cNvPr id="16" name="Shape 14"/>
          <p:cNvSpPr/>
          <p:nvPr/>
        </p:nvSpPr>
        <p:spPr>
          <a:xfrm>
            <a:off x="6135624" y="3931920"/>
            <a:ext cx="3017520" cy="1051560"/>
          </a:xfrm>
          <a:prstGeom prst="roundRect">
            <a:avLst>
              <a:gd name="adj" fmla="val 5217"/>
            </a:avLst>
          </a:prstGeom>
          <a:solidFill>
            <a:srgbClr val="FFFFFF"/>
          </a:solidFill>
          <a:ln w="19050">
            <a:solidFill>
              <a:srgbClr val="E63946"/>
            </a:solidFill>
            <a:prstDash val="solid"/>
          </a:ln>
          <a:effectLst>
            <a:outerShdw blurRad="50800" dist="12700" dir="5400000" algn="bl" rotWithShape="0">
              <a:srgbClr val="1B2430">
                <a:alpha val="12000"/>
              </a:srgbClr>
            </a:outerShdw>
          </a:effectLst>
        </p:spPr>
      </p:sp>
      <p:sp>
        <p:nvSpPr>
          <p:cNvPr id="17" name="Text 15"/>
          <p:cNvSpPr/>
          <p:nvPr/>
        </p:nvSpPr>
        <p:spPr>
          <a:xfrm>
            <a:off x="6208776" y="3986784"/>
            <a:ext cx="2871216" cy="94183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Emergency Workflow</a:t>
            </a:r>
            <a:endParaRPr lang="en-US" sz="1150" dirty="0"/>
          </a:p>
          <a:p>
            <a:pPr marL="0" indent="0" algn="ctr">
              <a:buNone/>
            </a:pPr>
            <a:r>
              <a:rPr lang="en-US" sz="900" dirty="0">
                <a:solidFill>
                  <a:srgbClr val="5B6472"/>
                </a:solidFill>
                <a:latin typeface="Calibri" pitchFamily="34" charset="0"/>
                <a:ea typeface="Calibri" pitchFamily="34" charset="-122"/>
                <a:cs typeface="Calibri" pitchFamily="34" charset="-120"/>
              </a:rPr>
              <a:t>Vibration, SOS, GPS message</a:t>
            </a:r>
            <a:endParaRPr lang="en-US" sz="1150" dirty="0"/>
          </a:p>
        </p:txBody>
      </p:sp>
      <p:sp>
        <p:nvSpPr>
          <p:cNvPr id="18" name="Shape 16"/>
          <p:cNvSpPr/>
          <p:nvPr/>
        </p:nvSpPr>
        <p:spPr>
          <a:xfrm>
            <a:off x="1760220" y="2788920"/>
            <a:ext cx="617220" cy="1143000"/>
          </a:xfrm>
          <a:prstGeom prst="line">
            <a:avLst/>
          </a:prstGeom>
          <a:noFill/>
          <a:ln w="22225">
            <a:solidFill>
              <a:srgbClr val="118AB2"/>
            </a:solidFill>
            <a:prstDash val="solid"/>
            <a:tailEnd type="triangle"/>
          </a:ln>
        </p:spPr>
      </p:sp>
      <p:sp>
        <p:nvSpPr>
          <p:cNvPr id="19" name="Text 17"/>
          <p:cNvSpPr/>
          <p:nvPr/>
        </p:nvSpPr>
        <p:spPr>
          <a:xfrm>
            <a:off x="1005840" y="2807208"/>
            <a:ext cx="1280160" cy="228600"/>
          </a:xfrm>
          <a:prstGeom prst="rect">
            <a:avLst/>
          </a:prstGeom>
          <a:noFill/>
          <a:ln/>
        </p:spPr>
        <p:txBody>
          <a:bodyPr wrap="square" rtlCol="0" anchor="ctr"/>
          <a:lstStyle/>
          <a:p>
            <a:pPr marL="0" indent="0">
              <a:buNone/>
            </a:pPr>
            <a:r>
              <a:rPr lang="en-US" sz="900" i="1" dirty="0">
                <a:solidFill>
                  <a:srgbClr val="5B6472"/>
                </a:solidFill>
                <a:latin typeface="Calibri" pitchFamily="34" charset="0"/>
                <a:ea typeface="Calibri" pitchFamily="34" charset="-122"/>
                <a:cs typeface="Calibri" pitchFamily="34" charset="-120"/>
              </a:rPr>
              <a:t>Features</a:t>
            </a:r>
            <a:endParaRPr lang="en-US" sz="900" dirty="0"/>
          </a:p>
        </p:txBody>
      </p:sp>
      <p:sp>
        <p:nvSpPr>
          <p:cNvPr id="20" name="Shape 18"/>
          <p:cNvSpPr/>
          <p:nvPr/>
        </p:nvSpPr>
        <p:spPr>
          <a:xfrm>
            <a:off x="7301484" y="2788920"/>
            <a:ext cx="342900" cy="1143000"/>
          </a:xfrm>
          <a:prstGeom prst="line">
            <a:avLst/>
          </a:prstGeom>
          <a:noFill/>
          <a:ln w="22225">
            <a:solidFill>
              <a:srgbClr val="2DA44E"/>
            </a:solidFill>
            <a:prstDash val="solid"/>
            <a:tailEnd type="triangle"/>
          </a:ln>
        </p:spPr>
      </p:sp>
      <p:sp>
        <p:nvSpPr>
          <p:cNvPr id="21" name="Text 19"/>
          <p:cNvSpPr/>
          <p:nvPr/>
        </p:nvSpPr>
        <p:spPr>
          <a:xfrm>
            <a:off x="5998464" y="2807208"/>
            <a:ext cx="1737360" cy="228600"/>
          </a:xfrm>
          <a:prstGeom prst="rect">
            <a:avLst/>
          </a:prstGeom>
          <a:noFill/>
          <a:ln/>
        </p:spPr>
        <p:txBody>
          <a:bodyPr wrap="square" rtlCol="0" anchor="ctr"/>
          <a:lstStyle/>
          <a:p>
            <a:pPr marL="0" indent="0">
              <a:buNone/>
            </a:pPr>
            <a:r>
              <a:rPr lang="en-US" sz="900" i="1" dirty="0">
                <a:solidFill>
                  <a:srgbClr val="5B6472"/>
                </a:solidFill>
                <a:latin typeface="Calibri" pitchFamily="34" charset="0"/>
                <a:ea typeface="Calibri" pitchFamily="34" charset="-122"/>
                <a:cs typeface="Calibri" pitchFamily="34" charset="-120"/>
              </a:rPr>
              <a:t>User / guardian</a:t>
            </a:r>
            <a:endParaRPr lang="en-US" sz="900" dirty="0"/>
          </a:p>
        </p:txBody>
      </p:sp>
      <p:sp>
        <p:nvSpPr>
          <p:cNvPr id="22" name="Shape 20"/>
          <p:cNvSpPr/>
          <p:nvPr/>
        </p:nvSpPr>
        <p:spPr>
          <a:xfrm>
            <a:off x="3886200" y="4457700"/>
            <a:ext cx="2249424" cy="9144"/>
          </a:xfrm>
          <a:prstGeom prst="line">
            <a:avLst/>
          </a:prstGeom>
          <a:noFill/>
          <a:ln w="22225">
            <a:solidFill>
              <a:srgbClr val="E63946"/>
            </a:solidFill>
            <a:prstDash val="solid"/>
            <a:tailEnd type="triangle"/>
          </a:ln>
        </p:spPr>
      </p:sp>
      <p:sp>
        <p:nvSpPr>
          <p:cNvPr id="23" name="Text 21"/>
          <p:cNvSpPr/>
          <p:nvPr/>
        </p:nvSpPr>
        <p:spPr>
          <a:xfrm>
            <a:off x="3429000" y="4165092"/>
            <a:ext cx="1463040" cy="228600"/>
          </a:xfrm>
          <a:prstGeom prst="rect">
            <a:avLst/>
          </a:prstGeom>
          <a:noFill/>
          <a:ln/>
        </p:spPr>
        <p:txBody>
          <a:bodyPr wrap="square" rtlCol="0" anchor="ctr"/>
          <a:lstStyle/>
          <a:p>
            <a:pPr marL="0" indent="0" algn="ctr">
              <a:buNone/>
            </a:pPr>
            <a:r>
              <a:rPr lang="en-US" sz="900" i="1" dirty="0">
                <a:solidFill>
                  <a:srgbClr val="5B6472"/>
                </a:solidFill>
                <a:latin typeface="Calibri" pitchFamily="34" charset="0"/>
                <a:ea typeface="Calibri" pitchFamily="34" charset="-122"/>
                <a:cs typeface="Calibri" pitchFamily="34" charset="-120"/>
              </a:rPr>
              <a:t>Risk event</a:t>
            </a:r>
            <a:endParaRPr lang="en-US" sz="900" dirty="0"/>
          </a:p>
        </p:txBody>
      </p:sp>
      <p:sp>
        <p:nvSpPr>
          <p:cNvPr id="24" name="Text 22"/>
          <p:cNvSpPr/>
          <p:nvPr/>
        </p:nvSpPr>
        <p:spPr>
          <a:xfrm>
            <a:off x="502920" y="5257800"/>
            <a:ext cx="11155680" cy="868680"/>
          </a:xfrm>
          <a:prstGeom prst="rect">
            <a:avLst/>
          </a:prstGeom>
          <a:noFill/>
          <a:ln/>
        </p:spPr>
        <p:txBody>
          <a:bodyPr wrap="square" rtlCol="0" anchor="ctr"/>
          <a:lstStyle/>
          <a:p>
            <a:pPr marL="0" indent="0">
              <a:lnSpc>
                <a:spcPct val="120000"/>
              </a:lnSpc>
              <a:buNone/>
            </a:pPr>
            <a:r>
              <a:rPr lang="en-US" sz="1150" i="1" dirty="0">
                <a:solidFill>
                  <a:srgbClr val="5B6472"/>
                </a:solidFill>
                <a:latin typeface="Calibri" pitchFamily="34" charset="0"/>
                <a:ea typeface="Calibri" pitchFamily="34" charset="-122"/>
                <a:cs typeface="Calibri" pitchFamily="34" charset="-120"/>
              </a:rPr>
              <a:t>The wearable node captures signals and does first-level preprocessing; features and status packets travel over BLE to the Flutter app. The risk layer runs on-device / app-side, and emergency decisions use a combined state machine — manual SOS always has priority; automatic escalation needs high-confidence risk patterns or repeated warnings.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DATA FLOW</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Context Diagram (DFD Level 0)</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685800" y="2788920"/>
            <a:ext cx="2377440" cy="1005840"/>
          </a:xfrm>
          <a:prstGeom prst="roundRect">
            <a:avLst>
              <a:gd name="adj" fmla="val 5455"/>
            </a:avLst>
          </a:prstGeom>
          <a:solidFill>
            <a:srgbClr val="FFFFFF"/>
          </a:solidFill>
          <a:ln w="19050">
            <a:solidFill>
              <a:srgbClr val="118AB2"/>
            </a:solidFill>
            <a:prstDash val="solid"/>
          </a:ln>
          <a:effectLst>
            <a:outerShdw blurRad="50800" dist="12700" dir="5400000" algn="bl" rotWithShape="0">
              <a:srgbClr val="1B2430">
                <a:alpha val="12000"/>
              </a:srgbClr>
            </a:outerShdw>
          </a:effectLst>
        </p:spPr>
      </p:sp>
      <p:sp>
        <p:nvSpPr>
          <p:cNvPr id="7" name="Text 5"/>
          <p:cNvSpPr/>
          <p:nvPr/>
        </p:nvSpPr>
        <p:spPr>
          <a:xfrm>
            <a:off x="758952" y="2843784"/>
            <a:ext cx="2231136" cy="89611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User / Patient</a:t>
            </a:r>
            <a:endParaRPr lang="en-US" sz="1150" dirty="0"/>
          </a:p>
        </p:txBody>
      </p:sp>
      <p:sp>
        <p:nvSpPr>
          <p:cNvPr id="8" name="Shape 6"/>
          <p:cNvSpPr/>
          <p:nvPr/>
        </p:nvSpPr>
        <p:spPr>
          <a:xfrm>
            <a:off x="5074920" y="2606040"/>
            <a:ext cx="2926080" cy="1371600"/>
          </a:xfrm>
          <a:prstGeom prst="roundRect">
            <a:avLst>
              <a:gd name="adj" fmla="val 4000"/>
            </a:avLst>
          </a:prstGeom>
          <a:solidFill>
            <a:srgbClr val="FFFFFF"/>
          </a:solidFill>
          <a:ln w="19050">
            <a:solidFill>
              <a:srgbClr val="0B2545"/>
            </a:solidFill>
            <a:prstDash val="solid"/>
          </a:ln>
          <a:effectLst>
            <a:outerShdw blurRad="50800" dist="12700" dir="5400000" algn="bl" rotWithShape="0">
              <a:srgbClr val="1B2430">
                <a:alpha val="12000"/>
              </a:srgbClr>
            </a:outerShdw>
          </a:effectLst>
        </p:spPr>
      </p:sp>
      <p:sp>
        <p:nvSpPr>
          <p:cNvPr id="9" name="Text 7"/>
          <p:cNvSpPr/>
          <p:nvPr/>
        </p:nvSpPr>
        <p:spPr>
          <a:xfrm>
            <a:off x="5148072" y="2660904"/>
            <a:ext cx="2779776" cy="126187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NeuroGuardian X System</a:t>
            </a:r>
            <a:endParaRPr lang="en-US" sz="1150" dirty="0"/>
          </a:p>
        </p:txBody>
      </p:sp>
      <p:sp>
        <p:nvSpPr>
          <p:cNvPr id="10" name="Shape 8"/>
          <p:cNvSpPr/>
          <p:nvPr/>
        </p:nvSpPr>
        <p:spPr>
          <a:xfrm>
            <a:off x="9052560" y="2788920"/>
            <a:ext cx="2651760" cy="1005840"/>
          </a:xfrm>
          <a:prstGeom prst="roundRect">
            <a:avLst>
              <a:gd name="adj" fmla="val 5455"/>
            </a:avLst>
          </a:prstGeom>
          <a:solidFill>
            <a:srgbClr val="FFFFFF"/>
          </a:solidFill>
          <a:ln w="19050">
            <a:solidFill>
              <a:srgbClr val="E63946"/>
            </a:solidFill>
            <a:prstDash val="solid"/>
          </a:ln>
          <a:effectLst>
            <a:outerShdw blurRad="50800" dist="12700" dir="5400000" algn="bl" rotWithShape="0">
              <a:srgbClr val="1B2430">
                <a:alpha val="12000"/>
              </a:srgbClr>
            </a:outerShdw>
          </a:effectLst>
        </p:spPr>
      </p:sp>
      <p:sp>
        <p:nvSpPr>
          <p:cNvPr id="11" name="Text 9"/>
          <p:cNvSpPr/>
          <p:nvPr/>
        </p:nvSpPr>
        <p:spPr>
          <a:xfrm>
            <a:off x="9125712" y="2843784"/>
            <a:ext cx="2505456" cy="89611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Guardian / Emergency Contact</a:t>
            </a:r>
            <a:endParaRPr lang="en-US" sz="1150" dirty="0"/>
          </a:p>
        </p:txBody>
      </p:sp>
      <p:sp>
        <p:nvSpPr>
          <p:cNvPr id="12" name="Shape 10"/>
          <p:cNvSpPr/>
          <p:nvPr/>
        </p:nvSpPr>
        <p:spPr>
          <a:xfrm>
            <a:off x="5440680" y="5074920"/>
            <a:ext cx="2194560" cy="914400"/>
          </a:xfrm>
          <a:prstGeom prst="roundRect">
            <a:avLst>
              <a:gd name="adj" fmla="val 6000"/>
            </a:avLst>
          </a:prstGeom>
          <a:solidFill>
            <a:srgbClr val="FFFFFF"/>
          </a:solidFill>
          <a:ln w="19050">
            <a:solidFill>
              <a:srgbClr val="F1962B"/>
            </a:solidFill>
            <a:prstDash val="solid"/>
          </a:ln>
          <a:effectLst>
            <a:outerShdw blurRad="50800" dist="12700" dir="5400000" algn="bl" rotWithShape="0">
              <a:srgbClr val="1B2430">
                <a:alpha val="12000"/>
              </a:srgbClr>
            </a:outerShdw>
          </a:effectLst>
        </p:spPr>
      </p:sp>
      <p:sp>
        <p:nvSpPr>
          <p:cNvPr id="13" name="Text 11"/>
          <p:cNvSpPr/>
          <p:nvPr/>
        </p:nvSpPr>
        <p:spPr>
          <a:xfrm>
            <a:off x="5513832" y="5129784"/>
            <a:ext cx="2048256" cy="80467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Public Datasets +</a:t>
            </a:r>
            <a:endParaRPr lang="en-US" sz="1150" dirty="0"/>
          </a:p>
          <a:p>
            <a:pPr marL="0" indent="0" algn="ctr">
              <a:buNone/>
            </a:pPr>
            <a:r>
              <a:rPr lang="en-US" sz="1150" b="1" dirty="0">
                <a:solidFill>
                  <a:srgbClr val="0B2545"/>
                </a:solidFill>
                <a:latin typeface="Calibri" pitchFamily="34" charset="0"/>
                <a:ea typeface="Calibri" pitchFamily="34" charset="-122"/>
                <a:cs typeface="Calibri" pitchFamily="34" charset="-120"/>
              </a:rPr>
              <a:t>Project Sensor Data</a:t>
            </a:r>
            <a:endParaRPr lang="en-US" sz="1150" dirty="0"/>
          </a:p>
        </p:txBody>
      </p:sp>
      <p:sp>
        <p:nvSpPr>
          <p:cNvPr id="14" name="Shape 12"/>
          <p:cNvSpPr/>
          <p:nvPr/>
        </p:nvSpPr>
        <p:spPr>
          <a:xfrm>
            <a:off x="3063240" y="3291840"/>
            <a:ext cx="2011680" cy="9144"/>
          </a:xfrm>
          <a:prstGeom prst="line">
            <a:avLst/>
          </a:prstGeom>
          <a:noFill/>
          <a:ln w="22225">
            <a:solidFill>
              <a:srgbClr val="118AB2"/>
            </a:solidFill>
            <a:prstDash val="solid"/>
            <a:tailEnd type="triangle"/>
          </a:ln>
        </p:spPr>
      </p:sp>
      <p:sp>
        <p:nvSpPr>
          <p:cNvPr id="15" name="Text 13"/>
          <p:cNvSpPr/>
          <p:nvPr/>
        </p:nvSpPr>
        <p:spPr>
          <a:xfrm>
            <a:off x="2651760" y="2907792"/>
            <a:ext cx="2286000" cy="274320"/>
          </a:xfrm>
          <a:prstGeom prst="rect">
            <a:avLst/>
          </a:prstGeom>
          <a:noFill/>
          <a:ln/>
        </p:spPr>
        <p:txBody>
          <a:bodyPr wrap="square" rtlCol="0" anchor="ctr"/>
          <a:lstStyle/>
          <a:p>
            <a:pPr marL="0" indent="0" algn="ctr">
              <a:buNone/>
            </a:pPr>
            <a:r>
              <a:rPr lang="en-US" sz="950" i="1" dirty="0">
                <a:solidFill>
                  <a:srgbClr val="5B6472"/>
                </a:solidFill>
                <a:latin typeface="Calibri" pitchFamily="34" charset="0"/>
                <a:ea typeface="Calibri" pitchFamily="34" charset="-122"/>
                <a:cs typeface="Calibri" pitchFamily="34" charset="-120"/>
              </a:rPr>
              <a:t>Alerts, vitals</a:t>
            </a:r>
            <a:endParaRPr lang="en-US" sz="950" dirty="0"/>
          </a:p>
        </p:txBody>
      </p:sp>
      <p:sp>
        <p:nvSpPr>
          <p:cNvPr id="16" name="Shape 14"/>
          <p:cNvSpPr/>
          <p:nvPr/>
        </p:nvSpPr>
        <p:spPr>
          <a:xfrm>
            <a:off x="8001000" y="3291840"/>
            <a:ext cx="1051560" cy="9144"/>
          </a:xfrm>
          <a:prstGeom prst="line">
            <a:avLst/>
          </a:prstGeom>
          <a:noFill/>
          <a:ln w="22225">
            <a:solidFill>
              <a:srgbClr val="E63946"/>
            </a:solidFill>
            <a:prstDash val="solid"/>
            <a:tailEnd type="triangle"/>
          </a:ln>
        </p:spPr>
      </p:sp>
      <p:sp>
        <p:nvSpPr>
          <p:cNvPr id="17" name="Text 15"/>
          <p:cNvSpPr/>
          <p:nvPr/>
        </p:nvSpPr>
        <p:spPr>
          <a:xfrm>
            <a:off x="7863840" y="2907792"/>
            <a:ext cx="2103120" cy="274320"/>
          </a:xfrm>
          <a:prstGeom prst="rect">
            <a:avLst/>
          </a:prstGeom>
          <a:noFill/>
          <a:ln/>
        </p:spPr>
        <p:txBody>
          <a:bodyPr wrap="square" rtlCol="0" anchor="ctr"/>
          <a:lstStyle/>
          <a:p>
            <a:pPr marL="0" indent="0" algn="ctr">
              <a:buNone/>
            </a:pPr>
            <a:r>
              <a:rPr lang="en-US" sz="950" i="1" dirty="0">
                <a:solidFill>
                  <a:srgbClr val="5B6472"/>
                </a:solidFill>
                <a:latin typeface="Calibri" pitchFamily="34" charset="0"/>
                <a:ea typeface="Calibri" pitchFamily="34" charset="-122"/>
                <a:cs typeface="Calibri" pitchFamily="34" charset="-120"/>
              </a:rPr>
              <a:t>Risk + GPS alert</a:t>
            </a:r>
            <a:endParaRPr lang="en-US" sz="950" dirty="0"/>
          </a:p>
        </p:txBody>
      </p:sp>
      <p:sp>
        <p:nvSpPr>
          <p:cNvPr id="18" name="Shape 16"/>
          <p:cNvSpPr/>
          <p:nvPr/>
        </p:nvSpPr>
        <p:spPr>
          <a:xfrm flipV="1">
            <a:off x="6492240" y="3977640"/>
            <a:ext cx="9144" cy="1097280"/>
          </a:xfrm>
          <a:prstGeom prst="line">
            <a:avLst/>
          </a:prstGeom>
          <a:noFill/>
          <a:ln w="22225">
            <a:solidFill>
              <a:srgbClr val="F1962B"/>
            </a:solidFill>
            <a:prstDash val="solid"/>
            <a:tailEnd type="triangle"/>
          </a:ln>
        </p:spPr>
      </p:sp>
      <p:sp>
        <p:nvSpPr>
          <p:cNvPr id="19" name="Text 17"/>
          <p:cNvSpPr/>
          <p:nvPr/>
        </p:nvSpPr>
        <p:spPr>
          <a:xfrm>
            <a:off x="5440680" y="4709160"/>
            <a:ext cx="2194560" cy="274320"/>
          </a:xfrm>
          <a:prstGeom prst="rect">
            <a:avLst/>
          </a:prstGeom>
          <a:noFill/>
          <a:ln/>
        </p:spPr>
        <p:txBody>
          <a:bodyPr wrap="square" rtlCol="0" anchor="ctr"/>
          <a:lstStyle/>
          <a:p>
            <a:pPr marL="0" indent="0" algn="ctr">
              <a:buNone/>
            </a:pPr>
            <a:r>
              <a:rPr lang="en-US" sz="950" i="1" dirty="0">
                <a:solidFill>
                  <a:srgbClr val="5B6472"/>
                </a:solidFill>
                <a:latin typeface="Calibri" pitchFamily="34" charset="0"/>
                <a:ea typeface="Calibri" pitchFamily="34" charset="-122"/>
                <a:cs typeface="Calibri" pitchFamily="34" charset="-120"/>
              </a:rPr>
              <a:t>Training data</a:t>
            </a:r>
            <a:endParaRPr lang="en-US" sz="950" dirty="0"/>
          </a:p>
        </p:txBody>
      </p:sp>
      <p:sp>
        <p:nvSpPr>
          <p:cNvPr id="20" name="Text 18"/>
          <p:cNvSpPr/>
          <p:nvPr/>
        </p:nvSpPr>
        <p:spPr>
          <a:xfrm>
            <a:off x="502920" y="5897880"/>
            <a:ext cx="11155680" cy="548640"/>
          </a:xfrm>
          <a:prstGeom prst="rect">
            <a:avLst/>
          </a:prstGeom>
          <a:noFill/>
          <a:ln/>
        </p:spPr>
        <p:txBody>
          <a:bodyPr wrap="square"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The system sits between the user (who wears the device and receives alerts/vitals) and the guardian or emergency contact (who receives risk summaries and GPS-tagged alerts). Public datasets and project sensor recordings feed model training.</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DATA FLOW</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Internal Data Flow (DFD Level 1)</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02920" y="1783080"/>
            <a:ext cx="1965960" cy="914400"/>
          </a:xfrm>
          <a:prstGeom prst="roundRect">
            <a:avLst>
              <a:gd name="adj" fmla="val 6000"/>
            </a:avLst>
          </a:prstGeom>
          <a:solidFill>
            <a:srgbClr val="FFFFFF"/>
          </a:solidFill>
          <a:ln w="19050">
            <a:solidFill>
              <a:srgbClr val="118AB2"/>
            </a:solidFill>
            <a:prstDash val="solid"/>
          </a:ln>
          <a:effectLst>
            <a:outerShdw blurRad="50800" dist="12700" dir="5400000" algn="bl" rotWithShape="0">
              <a:srgbClr val="1B2430">
                <a:alpha val="12000"/>
              </a:srgbClr>
            </a:outerShdw>
          </a:effectLst>
        </p:spPr>
      </p:sp>
      <p:sp>
        <p:nvSpPr>
          <p:cNvPr id="7" name="Text 5"/>
          <p:cNvSpPr/>
          <p:nvPr/>
        </p:nvSpPr>
        <p:spPr>
          <a:xfrm>
            <a:off x="576072" y="1837944"/>
            <a:ext cx="1819656" cy="80467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1. Sensor</a:t>
            </a:r>
            <a:endParaRPr lang="en-US" sz="1150" dirty="0"/>
          </a:p>
          <a:p>
            <a:pPr marL="0" indent="0" algn="ctr">
              <a:buNone/>
            </a:pPr>
            <a:r>
              <a:rPr lang="en-US" sz="1150" b="1" dirty="0">
                <a:solidFill>
                  <a:srgbClr val="0B2545"/>
                </a:solidFill>
                <a:latin typeface="Calibri" pitchFamily="34" charset="0"/>
                <a:ea typeface="Calibri" pitchFamily="34" charset="-122"/>
                <a:cs typeface="Calibri" pitchFamily="34" charset="-120"/>
              </a:rPr>
              <a:t>Acquisition</a:t>
            </a:r>
            <a:endParaRPr lang="en-US" sz="1150" dirty="0"/>
          </a:p>
        </p:txBody>
      </p:sp>
      <p:sp>
        <p:nvSpPr>
          <p:cNvPr id="8" name="Shape 6"/>
          <p:cNvSpPr/>
          <p:nvPr/>
        </p:nvSpPr>
        <p:spPr>
          <a:xfrm>
            <a:off x="2468880" y="2240280"/>
            <a:ext cx="256032" cy="9144"/>
          </a:xfrm>
          <a:prstGeom prst="line">
            <a:avLst/>
          </a:prstGeom>
          <a:noFill/>
          <a:ln w="22225">
            <a:solidFill>
              <a:srgbClr val="5B6472"/>
            </a:solidFill>
            <a:prstDash val="solid"/>
            <a:tailEnd type="triangle"/>
          </a:ln>
        </p:spPr>
      </p:sp>
      <p:sp>
        <p:nvSpPr>
          <p:cNvPr id="9" name="Shape 7"/>
          <p:cNvSpPr/>
          <p:nvPr/>
        </p:nvSpPr>
        <p:spPr>
          <a:xfrm>
            <a:off x="2724912" y="1783080"/>
            <a:ext cx="1965960" cy="914400"/>
          </a:xfrm>
          <a:prstGeom prst="roundRect">
            <a:avLst>
              <a:gd name="adj" fmla="val 6000"/>
            </a:avLst>
          </a:prstGeom>
          <a:solidFill>
            <a:srgbClr val="FFFFFF"/>
          </a:solidFill>
          <a:ln w="19050">
            <a:solidFill>
              <a:srgbClr val="6C5CE7"/>
            </a:solidFill>
            <a:prstDash val="solid"/>
          </a:ln>
          <a:effectLst>
            <a:outerShdw blurRad="50800" dist="12700" dir="5400000" algn="bl" rotWithShape="0">
              <a:srgbClr val="1B2430">
                <a:alpha val="12000"/>
              </a:srgbClr>
            </a:outerShdw>
          </a:effectLst>
        </p:spPr>
      </p:sp>
      <p:sp>
        <p:nvSpPr>
          <p:cNvPr id="10" name="Text 8"/>
          <p:cNvSpPr/>
          <p:nvPr/>
        </p:nvSpPr>
        <p:spPr>
          <a:xfrm>
            <a:off x="2798064" y="1837944"/>
            <a:ext cx="1819656" cy="80467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2. Signal</a:t>
            </a:r>
            <a:endParaRPr lang="en-US" sz="1150" dirty="0"/>
          </a:p>
          <a:p>
            <a:pPr marL="0" indent="0" algn="ctr">
              <a:buNone/>
            </a:pPr>
            <a:r>
              <a:rPr lang="en-US" sz="1150" b="1" dirty="0">
                <a:solidFill>
                  <a:srgbClr val="0B2545"/>
                </a:solidFill>
                <a:latin typeface="Calibri" pitchFamily="34" charset="0"/>
                <a:ea typeface="Calibri" pitchFamily="34" charset="-122"/>
                <a:cs typeface="Calibri" pitchFamily="34" charset="-120"/>
              </a:rPr>
              <a:t>Preprocessing</a:t>
            </a:r>
            <a:endParaRPr lang="en-US" sz="1150" dirty="0"/>
          </a:p>
        </p:txBody>
      </p:sp>
      <p:sp>
        <p:nvSpPr>
          <p:cNvPr id="11" name="Shape 9"/>
          <p:cNvSpPr/>
          <p:nvPr/>
        </p:nvSpPr>
        <p:spPr>
          <a:xfrm>
            <a:off x="4690872" y="2240280"/>
            <a:ext cx="256032" cy="9144"/>
          </a:xfrm>
          <a:prstGeom prst="line">
            <a:avLst/>
          </a:prstGeom>
          <a:noFill/>
          <a:ln w="22225">
            <a:solidFill>
              <a:srgbClr val="5B6472"/>
            </a:solidFill>
            <a:prstDash val="solid"/>
            <a:tailEnd type="triangle"/>
          </a:ln>
        </p:spPr>
      </p:sp>
      <p:sp>
        <p:nvSpPr>
          <p:cNvPr id="12" name="Shape 10"/>
          <p:cNvSpPr/>
          <p:nvPr/>
        </p:nvSpPr>
        <p:spPr>
          <a:xfrm>
            <a:off x="4946904" y="1783080"/>
            <a:ext cx="1965960" cy="914400"/>
          </a:xfrm>
          <a:prstGeom prst="roundRect">
            <a:avLst>
              <a:gd name="adj" fmla="val 6000"/>
            </a:avLst>
          </a:prstGeom>
          <a:solidFill>
            <a:srgbClr val="FFFFFF"/>
          </a:solidFill>
          <a:ln w="19050">
            <a:solidFill>
              <a:srgbClr val="F1962B"/>
            </a:solidFill>
            <a:prstDash val="solid"/>
          </a:ln>
          <a:effectLst>
            <a:outerShdw blurRad="50800" dist="12700" dir="5400000" algn="bl" rotWithShape="0">
              <a:srgbClr val="1B2430">
                <a:alpha val="12000"/>
              </a:srgbClr>
            </a:outerShdw>
          </a:effectLst>
        </p:spPr>
      </p:sp>
      <p:sp>
        <p:nvSpPr>
          <p:cNvPr id="13" name="Text 11"/>
          <p:cNvSpPr/>
          <p:nvPr/>
        </p:nvSpPr>
        <p:spPr>
          <a:xfrm>
            <a:off x="5020056" y="1837944"/>
            <a:ext cx="1819656" cy="80467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3. Feature</a:t>
            </a:r>
            <a:endParaRPr lang="en-US" sz="1150" dirty="0"/>
          </a:p>
          <a:p>
            <a:pPr marL="0" indent="0" algn="ctr">
              <a:buNone/>
            </a:pPr>
            <a:r>
              <a:rPr lang="en-US" sz="1150" b="1" dirty="0">
                <a:solidFill>
                  <a:srgbClr val="0B2545"/>
                </a:solidFill>
                <a:latin typeface="Calibri" pitchFamily="34" charset="0"/>
                <a:ea typeface="Calibri" pitchFamily="34" charset="-122"/>
                <a:cs typeface="Calibri" pitchFamily="34" charset="-120"/>
              </a:rPr>
              <a:t>Extraction</a:t>
            </a:r>
            <a:endParaRPr lang="en-US" sz="1150" dirty="0"/>
          </a:p>
        </p:txBody>
      </p:sp>
      <p:sp>
        <p:nvSpPr>
          <p:cNvPr id="14" name="Shape 12"/>
          <p:cNvSpPr/>
          <p:nvPr/>
        </p:nvSpPr>
        <p:spPr>
          <a:xfrm>
            <a:off x="6912864" y="2240280"/>
            <a:ext cx="256032" cy="9144"/>
          </a:xfrm>
          <a:prstGeom prst="line">
            <a:avLst/>
          </a:prstGeom>
          <a:noFill/>
          <a:ln w="22225">
            <a:solidFill>
              <a:srgbClr val="5B6472"/>
            </a:solidFill>
            <a:prstDash val="solid"/>
            <a:tailEnd type="triangle"/>
          </a:ln>
        </p:spPr>
      </p:sp>
      <p:sp>
        <p:nvSpPr>
          <p:cNvPr id="15" name="Shape 13"/>
          <p:cNvSpPr/>
          <p:nvPr/>
        </p:nvSpPr>
        <p:spPr>
          <a:xfrm>
            <a:off x="7168896" y="1783080"/>
            <a:ext cx="1965960" cy="914400"/>
          </a:xfrm>
          <a:prstGeom prst="roundRect">
            <a:avLst>
              <a:gd name="adj" fmla="val 6000"/>
            </a:avLst>
          </a:prstGeom>
          <a:solidFill>
            <a:srgbClr val="FFFFFF"/>
          </a:solidFill>
          <a:ln w="19050">
            <a:solidFill>
              <a:srgbClr val="2DA44E"/>
            </a:solidFill>
            <a:prstDash val="solid"/>
          </a:ln>
          <a:effectLst>
            <a:outerShdw blurRad="50800" dist="12700" dir="5400000" algn="bl" rotWithShape="0">
              <a:srgbClr val="1B2430">
                <a:alpha val="12000"/>
              </a:srgbClr>
            </a:outerShdw>
          </a:effectLst>
        </p:spPr>
      </p:sp>
      <p:sp>
        <p:nvSpPr>
          <p:cNvPr id="16" name="Text 14"/>
          <p:cNvSpPr/>
          <p:nvPr/>
        </p:nvSpPr>
        <p:spPr>
          <a:xfrm>
            <a:off x="7242048" y="1837944"/>
            <a:ext cx="1819656" cy="80467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4. AI</a:t>
            </a:r>
            <a:endParaRPr lang="en-US" sz="1150" dirty="0"/>
          </a:p>
          <a:p>
            <a:pPr marL="0" indent="0" algn="ctr">
              <a:buNone/>
            </a:pPr>
            <a:r>
              <a:rPr lang="en-US" sz="1150" b="1" dirty="0">
                <a:solidFill>
                  <a:srgbClr val="0B2545"/>
                </a:solidFill>
                <a:latin typeface="Calibri" pitchFamily="34" charset="0"/>
                <a:ea typeface="Calibri" pitchFamily="34" charset="-122"/>
                <a:cs typeface="Calibri" pitchFamily="34" charset="-120"/>
              </a:rPr>
              <a:t>Inference</a:t>
            </a:r>
            <a:endParaRPr lang="en-US" sz="1150" dirty="0"/>
          </a:p>
        </p:txBody>
      </p:sp>
      <p:sp>
        <p:nvSpPr>
          <p:cNvPr id="17" name="Shape 15"/>
          <p:cNvSpPr/>
          <p:nvPr/>
        </p:nvSpPr>
        <p:spPr>
          <a:xfrm>
            <a:off x="9134856" y="2240280"/>
            <a:ext cx="256032" cy="9144"/>
          </a:xfrm>
          <a:prstGeom prst="line">
            <a:avLst/>
          </a:prstGeom>
          <a:noFill/>
          <a:ln w="22225">
            <a:solidFill>
              <a:srgbClr val="5B6472"/>
            </a:solidFill>
            <a:prstDash val="solid"/>
            <a:tailEnd type="triangle"/>
          </a:ln>
        </p:spPr>
      </p:sp>
      <p:sp>
        <p:nvSpPr>
          <p:cNvPr id="18" name="Shape 16"/>
          <p:cNvSpPr/>
          <p:nvPr/>
        </p:nvSpPr>
        <p:spPr>
          <a:xfrm>
            <a:off x="9390888" y="1783080"/>
            <a:ext cx="1965960" cy="914400"/>
          </a:xfrm>
          <a:prstGeom prst="roundRect">
            <a:avLst>
              <a:gd name="adj" fmla="val 6000"/>
            </a:avLst>
          </a:prstGeom>
          <a:solidFill>
            <a:srgbClr val="FFFFFF"/>
          </a:solidFill>
          <a:ln w="19050">
            <a:solidFill>
              <a:srgbClr val="0B2545"/>
            </a:solidFill>
            <a:prstDash val="solid"/>
          </a:ln>
          <a:effectLst>
            <a:outerShdw blurRad="50800" dist="12700" dir="5400000" algn="bl" rotWithShape="0">
              <a:srgbClr val="1B2430">
                <a:alpha val="12000"/>
              </a:srgbClr>
            </a:outerShdw>
          </a:effectLst>
        </p:spPr>
      </p:sp>
      <p:sp>
        <p:nvSpPr>
          <p:cNvPr id="19" name="Text 17"/>
          <p:cNvSpPr/>
          <p:nvPr/>
        </p:nvSpPr>
        <p:spPr>
          <a:xfrm>
            <a:off x="9464040" y="1837944"/>
            <a:ext cx="1819656" cy="80467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5. Risk Decision</a:t>
            </a:r>
            <a:endParaRPr lang="en-US" sz="1150" dirty="0"/>
          </a:p>
          <a:p>
            <a:pPr marL="0" indent="0" algn="ctr">
              <a:buNone/>
            </a:pPr>
            <a:r>
              <a:rPr lang="en-US" sz="1150" b="1" dirty="0">
                <a:solidFill>
                  <a:srgbClr val="0B2545"/>
                </a:solidFill>
                <a:latin typeface="Calibri" pitchFamily="34" charset="0"/>
                <a:ea typeface="Calibri" pitchFamily="34" charset="-122"/>
                <a:cs typeface="Calibri" pitchFamily="34" charset="-120"/>
              </a:rPr>
              <a:t>Engine</a:t>
            </a:r>
            <a:endParaRPr lang="en-US" sz="1150" dirty="0"/>
          </a:p>
        </p:txBody>
      </p:sp>
      <p:sp>
        <p:nvSpPr>
          <p:cNvPr id="20" name="Shape 18"/>
          <p:cNvSpPr/>
          <p:nvPr/>
        </p:nvSpPr>
        <p:spPr>
          <a:xfrm>
            <a:off x="1051560" y="3383280"/>
            <a:ext cx="2377440" cy="868680"/>
          </a:xfrm>
          <a:prstGeom prst="roundRect">
            <a:avLst>
              <a:gd name="adj" fmla="val 6316"/>
            </a:avLst>
          </a:prstGeom>
          <a:solidFill>
            <a:srgbClr val="FFFFFF"/>
          </a:solidFill>
          <a:ln w="19050">
            <a:solidFill>
              <a:srgbClr val="F1962B"/>
            </a:solidFill>
            <a:prstDash val="solid"/>
          </a:ln>
          <a:effectLst>
            <a:outerShdw blurRad="50800" dist="12700" dir="5400000" algn="bl" rotWithShape="0">
              <a:srgbClr val="1B2430">
                <a:alpha val="12000"/>
              </a:srgbClr>
            </a:outerShdw>
          </a:effectLst>
        </p:spPr>
      </p:sp>
      <p:sp>
        <p:nvSpPr>
          <p:cNvPr id="21" name="Text 19"/>
          <p:cNvSpPr/>
          <p:nvPr/>
        </p:nvSpPr>
        <p:spPr>
          <a:xfrm>
            <a:off x="1124712" y="3438144"/>
            <a:ext cx="2231136" cy="75895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Local Logs</a:t>
            </a:r>
            <a:endParaRPr lang="en-US" sz="1150" dirty="0"/>
          </a:p>
          <a:p>
            <a:pPr marL="0" indent="0" algn="ctr">
              <a:buNone/>
            </a:pPr>
            <a:r>
              <a:rPr lang="en-US" sz="900" dirty="0">
                <a:solidFill>
                  <a:srgbClr val="5B6472"/>
                </a:solidFill>
                <a:latin typeface="Calibri" pitchFamily="34" charset="0"/>
                <a:ea typeface="Calibri" pitchFamily="34" charset="-122"/>
                <a:cs typeface="Calibri" pitchFamily="34" charset="-120"/>
              </a:rPr>
              <a:t>raw data, windows</a:t>
            </a:r>
            <a:endParaRPr lang="en-US" sz="1150" dirty="0"/>
          </a:p>
        </p:txBody>
      </p:sp>
      <p:sp>
        <p:nvSpPr>
          <p:cNvPr id="22" name="Shape 20"/>
          <p:cNvSpPr/>
          <p:nvPr/>
        </p:nvSpPr>
        <p:spPr>
          <a:xfrm>
            <a:off x="9235440" y="3383280"/>
            <a:ext cx="2194560" cy="868680"/>
          </a:xfrm>
          <a:prstGeom prst="roundRect">
            <a:avLst>
              <a:gd name="adj" fmla="val 6316"/>
            </a:avLst>
          </a:prstGeom>
          <a:solidFill>
            <a:srgbClr val="FFFFFF"/>
          </a:solidFill>
          <a:ln w="19050">
            <a:solidFill>
              <a:srgbClr val="E63946"/>
            </a:solidFill>
            <a:prstDash val="solid"/>
          </a:ln>
          <a:effectLst>
            <a:outerShdw blurRad="50800" dist="12700" dir="5400000" algn="bl" rotWithShape="0">
              <a:srgbClr val="1B2430">
                <a:alpha val="12000"/>
              </a:srgbClr>
            </a:outerShdw>
          </a:effectLst>
        </p:spPr>
      </p:sp>
      <p:sp>
        <p:nvSpPr>
          <p:cNvPr id="23" name="Text 21"/>
          <p:cNvSpPr/>
          <p:nvPr/>
        </p:nvSpPr>
        <p:spPr>
          <a:xfrm>
            <a:off x="9308592" y="3438144"/>
            <a:ext cx="2048256" cy="75895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SOS / Emergency</a:t>
            </a:r>
            <a:endParaRPr lang="en-US" sz="1150" dirty="0"/>
          </a:p>
          <a:p>
            <a:pPr marL="0" indent="0" algn="ctr">
              <a:buNone/>
            </a:pPr>
            <a:r>
              <a:rPr lang="en-US" sz="1150" b="1" dirty="0">
                <a:solidFill>
                  <a:srgbClr val="0B2545"/>
                </a:solidFill>
                <a:latin typeface="Calibri" pitchFamily="34" charset="0"/>
                <a:ea typeface="Calibri" pitchFamily="34" charset="-122"/>
                <a:cs typeface="Calibri" pitchFamily="34" charset="-120"/>
              </a:rPr>
              <a:t>Alert</a:t>
            </a:r>
            <a:endParaRPr lang="en-US" sz="1150" dirty="0"/>
          </a:p>
        </p:txBody>
      </p:sp>
      <p:sp>
        <p:nvSpPr>
          <p:cNvPr id="24" name="Shape 22"/>
          <p:cNvSpPr/>
          <p:nvPr/>
        </p:nvSpPr>
        <p:spPr>
          <a:xfrm>
            <a:off x="1485900" y="2697480"/>
            <a:ext cx="754380" cy="685800"/>
          </a:xfrm>
          <a:prstGeom prst="line">
            <a:avLst/>
          </a:prstGeom>
          <a:noFill/>
          <a:ln w="22225">
            <a:solidFill>
              <a:srgbClr val="118AB2"/>
            </a:solidFill>
            <a:prstDash val="solid"/>
            <a:tailEnd type="triangle"/>
          </a:ln>
        </p:spPr>
      </p:sp>
      <p:sp>
        <p:nvSpPr>
          <p:cNvPr id="25" name="Shape 23"/>
          <p:cNvSpPr/>
          <p:nvPr/>
        </p:nvSpPr>
        <p:spPr>
          <a:xfrm flipH="1">
            <a:off x="10332720" y="2697480"/>
            <a:ext cx="41148" cy="685800"/>
          </a:xfrm>
          <a:prstGeom prst="line">
            <a:avLst/>
          </a:prstGeom>
          <a:noFill/>
          <a:ln w="22225">
            <a:solidFill>
              <a:srgbClr val="E63946"/>
            </a:solidFill>
            <a:prstDash val="solid"/>
            <a:tailEnd type="triangle"/>
          </a:ln>
        </p:spPr>
      </p:sp>
      <p:sp>
        <p:nvSpPr>
          <p:cNvPr id="26" name="Text 24"/>
          <p:cNvSpPr/>
          <p:nvPr/>
        </p:nvSpPr>
        <p:spPr>
          <a:xfrm>
            <a:off x="7955280" y="3017520"/>
            <a:ext cx="1828800" cy="274320"/>
          </a:xfrm>
          <a:prstGeom prst="rect">
            <a:avLst/>
          </a:prstGeom>
          <a:noFill/>
          <a:ln/>
        </p:spPr>
        <p:txBody>
          <a:bodyPr wrap="square" rtlCol="0" anchor="ctr"/>
          <a:lstStyle/>
          <a:p>
            <a:pPr marL="0" indent="0" algn="ctr">
              <a:buNone/>
            </a:pPr>
            <a:r>
              <a:rPr lang="en-US" sz="900" i="1" dirty="0">
                <a:solidFill>
                  <a:srgbClr val="5B6472"/>
                </a:solidFill>
                <a:latin typeface="Calibri" pitchFamily="34" charset="0"/>
                <a:ea typeface="Calibri" pitchFamily="34" charset="-122"/>
                <a:cs typeface="Calibri" pitchFamily="34" charset="-120"/>
              </a:rPr>
              <a:t>critical state</a:t>
            </a:r>
            <a:endParaRPr lang="en-US" sz="900" dirty="0"/>
          </a:p>
        </p:txBody>
      </p:sp>
      <p:sp>
        <p:nvSpPr>
          <p:cNvPr id="27" name="Text 25"/>
          <p:cNvSpPr/>
          <p:nvPr/>
        </p:nvSpPr>
        <p:spPr>
          <a:xfrm>
            <a:off x="502920" y="4572000"/>
            <a:ext cx="11155680" cy="731520"/>
          </a:xfrm>
          <a:prstGeom prst="rect">
            <a:avLst/>
          </a:prstGeom>
          <a:noFill/>
          <a:ln/>
        </p:spPr>
        <p:txBody>
          <a:bodyPr wrap="square" rtlCol="0" anchor="ctr"/>
          <a:lstStyle/>
          <a:p>
            <a:pPr marL="0" indent="0">
              <a:lnSpc>
                <a:spcPct val="120000"/>
              </a:lnSpc>
              <a:buNone/>
            </a:pPr>
            <a:r>
              <a:rPr lang="en-US" sz="1150" i="1" dirty="0">
                <a:solidFill>
                  <a:srgbClr val="5B6472"/>
                </a:solidFill>
                <a:latin typeface="Calibri" pitchFamily="34" charset="0"/>
                <a:ea typeface="Calibri" pitchFamily="34" charset="-122"/>
                <a:cs typeface="Calibri" pitchFamily="34" charset="-120"/>
              </a:rPr>
              <a:t>Raw signals move through preprocessing, feature extraction and AI inference before reaching the risk decision engine. Intermediate data (raw samples, cleaned windows, feature scores) is logged locally; critical states trigger the SOS / emergency alert path.</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UML Use-Case Design</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183112" cy="4114800"/>
        </p:xfrm>
        <a:graphic>
          <a:graphicData uri="http://schemas.openxmlformats.org/drawingml/2006/table">
            <a:tbl>
              <a:tblPr/>
              <a:tblGrid>
                <a:gridCol w="3108960">
                  <a:extLst>
                    <a:ext uri="{9D8B030D-6E8A-4147-A177-3AD203B41FA5}">
                      <a16:colId xmlns:a16="http://schemas.microsoft.com/office/drawing/2014/main" val="20000"/>
                    </a:ext>
                  </a:extLst>
                </a:gridCol>
                <a:gridCol w="8074152">
                  <a:extLst>
                    <a:ext uri="{9D8B030D-6E8A-4147-A177-3AD203B41FA5}">
                      <a16:colId xmlns:a16="http://schemas.microsoft.com/office/drawing/2014/main" val="20001"/>
                    </a:ext>
                  </a:extLst>
                </a:gridCol>
              </a:tblGrid>
              <a:tr h="8229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Actor</a:t>
                      </a:r>
                      <a:endParaRPr lang="en-US" sz="12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Use Cases</a:t>
                      </a:r>
                      <a:endParaRPr lang="en-US" sz="12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822960">
                <a:tc>
                  <a:txBody>
                    <a:bodyPr/>
                    <a:lstStyle/>
                    <a:p>
                      <a:pPr marL="0" indent="0">
                        <a:buNone/>
                      </a:pPr>
                      <a:r>
                        <a:rPr lang="en-US" sz="1250" dirty="0">
                          <a:solidFill>
                            <a:srgbClr val="1B2430"/>
                          </a:solidFill>
                          <a:latin typeface="Calibri" pitchFamily="34" charset="0"/>
                          <a:ea typeface="Calibri" pitchFamily="34" charset="-122"/>
                          <a:cs typeface="Calibri" pitchFamily="34" charset="-120"/>
                        </a:rPr>
                        <a:t>User / Patient</a:t>
                      </a:r>
                      <a:endParaRPr lang="en-US" sz="12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250" dirty="0">
                          <a:solidFill>
                            <a:srgbClr val="1B2430"/>
                          </a:solidFill>
                          <a:latin typeface="Calibri" pitchFamily="34" charset="0"/>
                          <a:ea typeface="Calibri" pitchFamily="34" charset="-122"/>
                          <a:cs typeface="Calibri" pitchFamily="34" charset="-120"/>
                        </a:rPr>
                        <a:t>Wear device; view live readings; receive vibration alert; press SOS; confirm/cancel emergency; review trends.</a:t>
                      </a:r>
                      <a:endParaRPr lang="en-US" sz="12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1"/>
                  </a:ext>
                </a:extLst>
              </a:tr>
              <a:tr h="822960">
                <a:tc>
                  <a:txBody>
                    <a:bodyPr/>
                    <a:lstStyle/>
                    <a:p>
                      <a:pPr marL="0" indent="0">
                        <a:buNone/>
                      </a:pPr>
                      <a:r>
                        <a:rPr lang="en-US" sz="1250" dirty="0">
                          <a:solidFill>
                            <a:srgbClr val="1B2430"/>
                          </a:solidFill>
                          <a:latin typeface="Calibri" pitchFamily="34" charset="0"/>
                          <a:ea typeface="Calibri" pitchFamily="34" charset="-122"/>
                          <a:cs typeface="Calibri" pitchFamily="34" charset="-120"/>
                        </a:rPr>
                        <a:t>Guardian / Emergency Contact</a:t>
                      </a:r>
                      <a:endParaRPr lang="en-US" sz="12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250" dirty="0">
                          <a:solidFill>
                            <a:srgbClr val="1B2430"/>
                          </a:solidFill>
                          <a:latin typeface="Calibri" pitchFamily="34" charset="0"/>
                          <a:ea typeface="Calibri" pitchFamily="34" charset="-122"/>
                          <a:cs typeface="Calibri" pitchFamily="34" charset="-120"/>
                        </a:rPr>
                        <a:t>Receive alert; view shared GPS location and risk summary; respond through configured channel.</a:t>
                      </a:r>
                      <a:endParaRPr lang="en-US" sz="12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2"/>
                  </a:ext>
                </a:extLst>
              </a:tr>
              <a:tr h="822960">
                <a:tc>
                  <a:txBody>
                    <a:bodyPr/>
                    <a:lstStyle/>
                    <a:p>
                      <a:pPr marL="0" indent="0">
                        <a:buNone/>
                      </a:pPr>
                      <a:r>
                        <a:rPr lang="en-US" sz="1250" dirty="0">
                          <a:solidFill>
                            <a:srgbClr val="1B2430"/>
                          </a:solidFill>
                          <a:latin typeface="Calibri" pitchFamily="34" charset="0"/>
                          <a:ea typeface="Calibri" pitchFamily="34" charset="-122"/>
                          <a:cs typeface="Calibri" pitchFamily="34" charset="-120"/>
                        </a:rPr>
                        <a:t>Developer / Researcher</a:t>
                      </a:r>
                      <a:endParaRPr lang="en-US" sz="12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250" dirty="0">
                          <a:solidFill>
                            <a:srgbClr val="1B2430"/>
                          </a:solidFill>
                          <a:latin typeface="Calibri" pitchFamily="34" charset="0"/>
                          <a:ea typeface="Calibri" pitchFamily="34" charset="-122"/>
                          <a:cs typeface="Calibri" pitchFamily="34" charset="-120"/>
                        </a:rPr>
                        <a:t>Collect labeled data; train models; validate sensors; update firmware/app; review logs.</a:t>
                      </a:r>
                      <a:endParaRPr lang="en-US" sz="12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3"/>
                  </a:ext>
                </a:extLst>
              </a:tr>
              <a:tr h="822960">
                <a:tc>
                  <a:txBody>
                    <a:bodyPr/>
                    <a:lstStyle/>
                    <a:p>
                      <a:pPr marL="0" indent="0">
                        <a:buNone/>
                      </a:pPr>
                      <a:r>
                        <a:rPr lang="en-US" sz="1250" dirty="0">
                          <a:solidFill>
                            <a:srgbClr val="1B2430"/>
                          </a:solidFill>
                          <a:latin typeface="Calibri" pitchFamily="34" charset="0"/>
                          <a:ea typeface="Calibri" pitchFamily="34" charset="-122"/>
                          <a:cs typeface="Calibri" pitchFamily="34" charset="-120"/>
                        </a:rPr>
                        <a:t>NeuroGuardian X System</a:t>
                      </a:r>
                      <a:endParaRPr lang="en-US" sz="12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250" dirty="0">
                          <a:solidFill>
                            <a:srgbClr val="1B2430"/>
                          </a:solidFill>
                          <a:latin typeface="Calibri" pitchFamily="34" charset="0"/>
                          <a:ea typeface="Calibri" pitchFamily="34" charset="-122"/>
                          <a:cs typeface="Calibri" pitchFamily="34" charset="-120"/>
                        </a:rPr>
                        <a:t>Acquire signals; preprocess; classify stress/rhythm/activity; detect risk; transmit BLE packets; trigger alerts.</a:t>
                      </a:r>
                      <a:endParaRPr lang="en-US" sz="12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Methodology &amp; Activity Flow</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02920" y="1965960"/>
            <a:ext cx="3520440" cy="1417320"/>
          </a:xfrm>
          <a:prstGeom prst="roundRect">
            <a:avLst>
              <a:gd name="adj" fmla="val 5806"/>
            </a:avLst>
          </a:prstGeom>
          <a:solidFill>
            <a:srgbClr val="FFFFFF"/>
          </a:solidFill>
          <a:ln w="9525">
            <a:solidFill>
              <a:srgbClr val="E2E6ED"/>
            </a:solidFill>
            <a:prstDash val="solid"/>
          </a:ln>
          <a:effectLst>
            <a:outerShdw blurRad="63500" dist="12700" dir="5400000" algn="bl" rotWithShape="0">
              <a:srgbClr val="1B2430">
                <a:alpha val="12000"/>
              </a:srgbClr>
            </a:outerShdw>
          </a:effectLst>
        </p:spPr>
      </p:sp>
      <p:sp>
        <p:nvSpPr>
          <p:cNvPr id="7" name="Shape 5"/>
          <p:cNvSpPr/>
          <p:nvPr/>
        </p:nvSpPr>
        <p:spPr>
          <a:xfrm>
            <a:off x="667512" y="2130552"/>
            <a:ext cx="365760" cy="365760"/>
          </a:xfrm>
          <a:prstGeom prst="ellipse">
            <a:avLst/>
          </a:prstGeom>
          <a:solidFill>
            <a:srgbClr val="118AB2"/>
          </a:solidFill>
          <a:ln/>
        </p:spPr>
      </p:sp>
      <p:sp>
        <p:nvSpPr>
          <p:cNvPr id="8" name="Text 6"/>
          <p:cNvSpPr/>
          <p:nvPr/>
        </p:nvSpPr>
        <p:spPr>
          <a:xfrm>
            <a:off x="667512" y="2130552"/>
            <a:ext cx="365760" cy="365760"/>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667512" y="2587752"/>
            <a:ext cx="3191256" cy="640080"/>
          </a:xfrm>
          <a:prstGeom prst="rect">
            <a:avLst/>
          </a:prstGeom>
          <a:noFill/>
          <a:ln/>
        </p:spPr>
        <p:txBody>
          <a:bodyPr wrap="square" rtlCol="0" anchor="t"/>
          <a:lstStyle/>
          <a:p>
            <a:pPr marL="0" indent="0">
              <a:lnSpc>
                <a:spcPct val="110000"/>
              </a:lnSpc>
              <a:buNone/>
            </a:pPr>
            <a:r>
              <a:rPr lang="en-US" sz="1100" dirty="0">
                <a:solidFill>
                  <a:srgbClr val="1B2430"/>
                </a:solidFill>
                <a:latin typeface="Calibri" pitchFamily="34" charset="0"/>
                <a:ea typeface="Calibri" pitchFamily="34" charset="-122"/>
                <a:cs typeface="Calibri" pitchFamily="34" charset="-120"/>
              </a:rPr>
              <a:t>Initialize sensor drivers, BLE service, thresholds &amp; saved settings</a:t>
            </a:r>
            <a:endParaRPr lang="en-US" sz="1100" dirty="0"/>
          </a:p>
        </p:txBody>
      </p:sp>
      <p:sp>
        <p:nvSpPr>
          <p:cNvPr id="10" name="Shape 8"/>
          <p:cNvSpPr/>
          <p:nvPr/>
        </p:nvSpPr>
        <p:spPr>
          <a:xfrm>
            <a:off x="4023360" y="2674620"/>
            <a:ext cx="256032" cy="9144"/>
          </a:xfrm>
          <a:prstGeom prst="line">
            <a:avLst/>
          </a:prstGeom>
          <a:noFill/>
          <a:ln w="22225">
            <a:solidFill>
              <a:srgbClr val="5B6472"/>
            </a:solidFill>
            <a:prstDash val="solid"/>
            <a:tailEnd type="triangle"/>
          </a:ln>
        </p:spPr>
      </p:sp>
      <p:sp>
        <p:nvSpPr>
          <p:cNvPr id="11" name="Shape 9"/>
          <p:cNvSpPr/>
          <p:nvPr/>
        </p:nvSpPr>
        <p:spPr>
          <a:xfrm>
            <a:off x="4279392" y="1965960"/>
            <a:ext cx="3520440" cy="1417320"/>
          </a:xfrm>
          <a:prstGeom prst="roundRect">
            <a:avLst>
              <a:gd name="adj" fmla="val 5806"/>
            </a:avLst>
          </a:prstGeom>
          <a:solidFill>
            <a:srgbClr val="FFFFFF"/>
          </a:solidFill>
          <a:ln w="9525">
            <a:solidFill>
              <a:srgbClr val="E2E6ED"/>
            </a:solidFill>
            <a:prstDash val="solid"/>
          </a:ln>
          <a:effectLst>
            <a:outerShdw blurRad="63500" dist="12700" dir="5400000" algn="bl" rotWithShape="0">
              <a:srgbClr val="1B2430">
                <a:alpha val="12000"/>
              </a:srgbClr>
            </a:outerShdw>
          </a:effectLst>
        </p:spPr>
      </p:sp>
      <p:sp>
        <p:nvSpPr>
          <p:cNvPr id="12" name="Shape 10"/>
          <p:cNvSpPr/>
          <p:nvPr/>
        </p:nvSpPr>
        <p:spPr>
          <a:xfrm>
            <a:off x="4443984" y="2130552"/>
            <a:ext cx="365760" cy="365760"/>
          </a:xfrm>
          <a:prstGeom prst="ellipse">
            <a:avLst/>
          </a:prstGeom>
          <a:solidFill>
            <a:srgbClr val="6C5CE7"/>
          </a:solidFill>
          <a:ln/>
        </p:spPr>
      </p:sp>
      <p:sp>
        <p:nvSpPr>
          <p:cNvPr id="13" name="Text 11"/>
          <p:cNvSpPr/>
          <p:nvPr/>
        </p:nvSpPr>
        <p:spPr>
          <a:xfrm>
            <a:off x="4443984" y="2130552"/>
            <a:ext cx="365760" cy="365760"/>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4443984" y="2587752"/>
            <a:ext cx="3191256" cy="640080"/>
          </a:xfrm>
          <a:prstGeom prst="rect">
            <a:avLst/>
          </a:prstGeom>
          <a:noFill/>
          <a:ln/>
        </p:spPr>
        <p:txBody>
          <a:bodyPr wrap="square" rtlCol="0" anchor="t"/>
          <a:lstStyle/>
          <a:p>
            <a:pPr marL="0" indent="0">
              <a:lnSpc>
                <a:spcPct val="110000"/>
              </a:lnSpc>
              <a:buNone/>
            </a:pPr>
            <a:r>
              <a:rPr lang="en-US" sz="1100" dirty="0">
                <a:solidFill>
                  <a:srgbClr val="1B2430"/>
                </a:solidFill>
                <a:latin typeface="Calibri" pitchFamily="34" charset="0"/>
                <a:ea typeface="Calibri" pitchFamily="34" charset="-122"/>
                <a:cs typeface="Calibri" pitchFamily="34" charset="-120"/>
              </a:rPr>
              <a:t>Check sensor availability &amp; signal quality; flag noisy/unavailable channels</a:t>
            </a:r>
            <a:endParaRPr lang="en-US" sz="1100" dirty="0"/>
          </a:p>
        </p:txBody>
      </p:sp>
      <p:sp>
        <p:nvSpPr>
          <p:cNvPr id="15" name="Shape 13"/>
          <p:cNvSpPr/>
          <p:nvPr/>
        </p:nvSpPr>
        <p:spPr>
          <a:xfrm>
            <a:off x="7799832" y="2674620"/>
            <a:ext cx="256032" cy="9144"/>
          </a:xfrm>
          <a:prstGeom prst="line">
            <a:avLst/>
          </a:prstGeom>
          <a:noFill/>
          <a:ln w="22225">
            <a:solidFill>
              <a:srgbClr val="5B6472"/>
            </a:solidFill>
            <a:prstDash val="solid"/>
            <a:tailEnd type="triangle"/>
          </a:ln>
        </p:spPr>
      </p:sp>
      <p:sp>
        <p:nvSpPr>
          <p:cNvPr id="16" name="Shape 14"/>
          <p:cNvSpPr/>
          <p:nvPr/>
        </p:nvSpPr>
        <p:spPr>
          <a:xfrm>
            <a:off x="8055864" y="1965960"/>
            <a:ext cx="3520440" cy="1417320"/>
          </a:xfrm>
          <a:prstGeom prst="roundRect">
            <a:avLst>
              <a:gd name="adj" fmla="val 5806"/>
            </a:avLst>
          </a:prstGeom>
          <a:solidFill>
            <a:srgbClr val="FFFFFF"/>
          </a:solidFill>
          <a:ln w="9525">
            <a:solidFill>
              <a:srgbClr val="E2E6ED"/>
            </a:solidFill>
            <a:prstDash val="solid"/>
          </a:ln>
          <a:effectLst>
            <a:outerShdw blurRad="63500" dist="12700" dir="5400000" algn="bl" rotWithShape="0">
              <a:srgbClr val="1B2430">
                <a:alpha val="12000"/>
              </a:srgbClr>
            </a:outerShdw>
          </a:effectLst>
        </p:spPr>
      </p:sp>
      <p:sp>
        <p:nvSpPr>
          <p:cNvPr id="17" name="Shape 15"/>
          <p:cNvSpPr/>
          <p:nvPr/>
        </p:nvSpPr>
        <p:spPr>
          <a:xfrm>
            <a:off x="8220456" y="2130552"/>
            <a:ext cx="365760" cy="365760"/>
          </a:xfrm>
          <a:prstGeom prst="ellipse">
            <a:avLst/>
          </a:prstGeom>
          <a:solidFill>
            <a:srgbClr val="F1962B"/>
          </a:solidFill>
          <a:ln/>
        </p:spPr>
      </p:sp>
      <p:sp>
        <p:nvSpPr>
          <p:cNvPr id="18" name="Text 16"/>
          <p:cNvSpPr/>
          <p:nvPr/>
        </p:nvSpPr>
        <p:spPr>
          <a:xfrm>
            <a:off x="8220456" y="2130552"/>
            <a:ext cx="365760" cy="365760"/>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8220456" y="2587752"/>
            <a:ext cx="3191256" cy="640080"/>
          </a:xfrm>
          <a:prstGeom prst="rect">
            <a:avLst/>
          </a:prstGeom>
          <a:noFill/>
          <a:ln/>
        </p:spPr>
        <p:txBody>
          <a:bodyPr wrap="square" rtlCol="0" anchor="t"/>
          <a:lstStyle/>
          <a:p>
            <a:pPr marL="0" indent="0">
              <a:lnSpc>
                <a:spcPct val="110000"/>
              </a:lnSpc>
              <a:buNone/>
            </a:pPr>
            <a:r>
              <a:rPr lang="en-US" sz="1100" dirty="0">
                <a:solidFill>
                  <a:srgbClr val="1B2430"/>
                </a:solidFill>
                <a:latin typeface="Calibri" pitchFamily="34" charset="0"/>
                <a:ea typeface="Calibri" pitchFamily="34" charset="-122"/>
                <a:cs typeface="Calibri" pitchFamily="34" charset="-120"/>
              </a:rPr>
              <a:t>Collect synchronized windows (PPG, ECG, EDA, IMU, temp, pressure, GPS)</a:t>
            </a:r>
            <a:endParaRPr lang="en-US" sz="1100" dirty="0"/>
          </a:p>
        </p:txBody>
      </p:sp>
      <p:sp>
        <p:nvSpPr>
          <p:cNvPr id="20" name="Shape 18"/>
          <p:cNvSpPr/>
          <p:nvPr/>
        </p:nvSpPr>
        <p:spPr>
          <a:xfrm>
            <a:off x="502920" y="3657600"/>
            <a:ext cx="3520440" cy="1417320"/>
          </a:xfrm>
          <a:prstGeom prst="roundRect">
            <a:avLst>
              <a:gd name="adj" fmla="val 5806"/>
            </a:avLst>
          </a:prstGeom>
          <a:solidFill>
            <a:srgbClr val="FFFFFF"/>
          </a:solidFill>
          <a:ln w="9525">
            <a:solidFill>
              <a:srgbClr val="E2E6ED"/>
            </a:solidFill>
            <a:prstDash val="solid"/>
          </a:ln>
          <a:effectLst>
            <a:outerShdw blurRad="63500" dist="12700" dir="5400000" algn="bl" rotWithShape="0">
              <a:srgbClr val="1B2430">
                <a:alpha val="12000"/>
              </a:srgbClr>
            </a:outerShdw>
          </a:effectLst>
        </p:spPr>
      </p:sp>
      <p:sp>
        <p:nvSpPr>
          <p:cNvPr id="21" name="Shape 19"/>
          <p:cNvSpPr/>
          <p:nvPr/>
        </p:nvSpPr>
        <p:spPr>
          <a:xfrm>
            <a:off x="667512" y="3822192"/>
            <a:ext cx="365760" cy="365760"/>
          </a:xfrm>
          <a:prstGeom prst="ellipse">
            <a:avLst/>
          </a:prstGeom>
          <a:solidFill>
            <a:srgbClr val="2DA44E"/>
          </a:solidFill>
          <a:ln/>
        </p:spPr>
      </p:sp>
      <p:sp>
        <p:nvSpPr>
          <p:cNvPr id="22" name="Text 20"/>
          <p:cNvSpPr/>
          <p:nvPr/>
        </p:nvSpPr>
        <p:spPr>
          <a:xfrm>
            <a:off x="667512" y="3822192"/>
            <a:ext cx="365760" cy="365760"/>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667512" y="4279392"/>
            <a:ext cx="3191256" cy="640080"/>
          </a:xfrm>
          <a:prstGeom prst="rect">
            <a:avLst/>
          </a:prstGeom>
          <a:noFill/>
          <a:ln/>
        </p:spPr>
        <p:txBody>
          <a:bodyPr wrap="square" rtlCol="0" anchor="t"/>
          <a:lstStyle/>
          <a:p>
            <a:pPr marL="0" indent="0">
              <a:lnSpc>
                <a:spcPct val="110000"/>
              </a:lnSpc>
              <a:buNone/>
            </a:pPr>
            <a:r>
              <a:rPr lang="en-US" sz="1100" dirty="0">
                <a:solidFill>
                  <a:srgbClr val="1B2430"/>
                </a:solidFill>
                <a:latin typeface="Calibri" pitchFamily="34" charset="0"/>
                <a:ea typeface="Calibri" pitchFamily="34" charset="-122"/>
                <a:cs typeface="Calibri" pitchFamily="34" charset="-120"/>
              </a:rPr>
              <a:t>Preprocess data, extract features, run model / rule inference</a:t>
            </a:r>
            <a:endParaRPr lang="en-US" sz="1100" dirty="0"/>
          </a:p>
        </p:txBody>
      </p:sp>
      <p:sp>
        <p:nvSpPr>
          <p:cNvPr id="24" name="Shape 22"/>
          <p:cNvSpPr/>
          <p:nvPr/>
        </p:nvSpPr>
        <p:spPr>
          <a:xfrm>
            <a:off x="4023360" y="4366260"/>
            <a:ext cx="256032" cy="9144"/>
          </a:xfrm>
          <a:prstGeom prst="line">
            <a:avLst/>
          </a:prstGeom>
          <a:noFill/>
          <a:ln w="22225">
            <a:solidFill>
              <a:srgbClr val="5B6472"/>
            </a:solidFill>
            <a:prstDash val="solid"/>
            <a:tailEnd type="triangle"/>
          </a:ln>
        </p:spPr>
      </p:sp>
      <p:sp>
        <p:nvSpPr>
          <p:cNvPr id="25" name="Shape 23"/>
          <p:cNvSpPr/>
          <p:nvPr/>
        </p:nvSpPr>
        <p:spPr>
          <a:xfrm>
            <a:off x="4279392" y="3657600"/>
            <a:ext cx="3520440" cy="1417320"/>
          </a:xfrm>
          <a:prstGeom prst="roundRect">
            <a:avLst>
              <a:gd name="adj" fmla="val 5806"/>
            </a:avLst>
          </a:prstGeom>
          <a:solidFill>
            <a:srgbClr val="FFFFFF"/>
          </a:solidFill>
          <a:ln w="9525">
            <a:solidFill>
              <a:srgbClr val="E2E6ED"/>
            </a:solidFill>
            <a:prstDash val="solid"/>
          </a:ln>
          <a:effectLst>
            <a:outerShdw blurRad="63500" dist="12700" dir="5400000" algn="bl" rotWithShape="0">
              <a:srgbClr val="1B2430">
                <a:alpha val="12000"/>
              </a:srgbClr>
            </a:outerShdw>
          </a:effectLst>
        </p:spPr>
      </p:sp>
      <p:sp>
        <p:nvSpPr>
          <p:cNvPr id="26" name="Shape 24"/>
          <p:cNvSpPr/>
          <p:nvPr/>
        </p:nvSpPr>
        <p:spPr>
          <a:xfrm>
            <a:off x="4443984" y="3822192"/>
            <a:ext cx="365760" cy="365760"/>
          </a:xfrm>
          <a:prstGeom prst="ellipse">
            <a:avLst/>
          </a:prstGeom>
          <a:solidFill>
            <a:srgbClr val="E63946"/>
          </a:solidFill>
          <a:ln/>
        </p:spPr>
      </p:sp>
      <p:sp>
        <p:nvSpPr>
          <p:cNvPr id="27" name="Text 25"/>
          <p:cNvSpPr/>
          <p:nvPr/>
        </p:nvSpPr>
        <p:spPr>
          <a:xfrm>
            <a:off x="4443984" y="3822192"/>
            <a:ext cx="365760" cy="365760"/>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p:nvPr/>
        </p:nvSpPr>
        <p:spPr>
          <a:xfrm>
            <a:off x="4443984" y="4279392"/>
            <a:ext cx="3191256" cy="640080"/>
          </a:xfrm>
          <a:prstGeom prst="rect">
            <a:avLst/>
          </a:prstGeom>
          <a:noFill/>
          <a:ln/>
        </p:spPr>
        <p:txBody>
          <a:bodyPr wrap="square" rtlCol="0" anchor="t"/>
          <a:lstStyle/>
          <a:p>
            <a:pPr marL="0" indent="0">
              <a:lnSpc>
                <a:spcPct val="110000"/>
              </a:lnSpc>
              <a:buNone/>
            </a:pPr>
            <a:r>
              <a:rPr lang="en-US" sz="1100" dirty="0">
                <a:solidFill>
                  <a:srgbClr val="1B2430"/>
                </a:solidFill>
                <a:latin typeface="Calibri" pitchFamily="34" charset="0"/>
                <a:ea typeface="Calibri" pitchFamily="34" charset="-122"/>
                <a:cs typeface="Calibri" pitchFamily="34" charset="-120"/>
              </a:rPr>
              <a:t>Classify state: normal / warning / emergency candidate</a:t>
            </a:r>
            <a:endParaRPr lang="en-US" sz="1100" dirty="0"/>
          </a:p>
        </p:txBody>
      </p:sp>
      <p:sp>
        <p:nvSpPr>
          <p:cNvPr id="29" name="Shape 27"/>
          <p:cNvSpPr/>
          <p:nvPr/>
        </p:nvSpPr>
        <p:spPr>
          <a:xfrm>
            <a:off x="7799832" y="4366260"/>
            <a:ext cx="256032" cy="9144"/>
          </a:xfrm>
          <a:prstGeom prst="line">
            <a:avLst/>
          </a:prstGeom>
          <a:noFill/>
          <a:ln w="22225">
            <a:solidFill>
              <a:srgbClr val="5B6472"/>
            </a:solidFill>
            <a:prstDash val="solid"/>
            <a:tailEnd type="triangle"/>
          </a:ln>
        </p:spPr>
      </p:sp>
      <p:sp>
        <p:nvSpPr>
          <p:cNvPr id="30" name="Shape 28"/>
          <p:cNvSpPr/>
          <p:nvPr/>
        </p:nvSpPr>
        <p:spPr>
          <a:xfrm>
            <a:off x="8055864" y="3657600"/>
            <a:ext cx="3520440" cy="1417320"/>
          </a:xfrm>
          <a:prstGeom prst="roundRect">
            <a:avLst>
              <a:gd name="adj" fmla="val 5806"/>
            </a:avLst>
          </a:prstGeom>
          <a:solidFill>
            <a:srgbClr val="FFFFFF"/>
          </a:solidFill>
          <a:ln w="9525">
            <a:solidFill>
              <a:srgbClr val="E2E6ED"/>
            </a:solidFill>
            <a:prstDash val="solid"/>
          </a:ln>
          <a:effectLst>
            <a:outerShdw blurRad="63500" dist="12700" dir="5400000" algn="bl" rotWithShape="0">
              <a:srgbClr val="1B2430">
                <a:alpha val="12000"/>
              </a:srgbClr>
            </a:outerShdw>
          </a:effectLst>
        </p:spPr>
      </p:sp>
      <p:sp>
        <p:nvSpPr>
          <p:cNvPr id="31" name="Shape 29"/>
          <p:cNvSpPr/>
          <p:nvPr/>
        </p:nvSpPr>
        <p:spPr>
          <a:xfrm>
            <a:off x="8220456" y="3822192"/>
            <a:ext cx="365760" cy="365760"/>
          </a:xfrm>
          <a:prstGeom prst="ellipse">
            <a:avLst/>
          </a:prstGeom>
          <a:solidFill>
            <a:srgbClr val="0B2545"/>
          </a:solidFill>
          <a:ln/>
        </p:spPr>
      </p:sp>
      <p:sp>
        <p:nvSpPr>
          <p:cNvPr id="32" name="Text 30"/>
          <p:cNvSpPr/>
          <p:nvPr/>
        </p:nvSpPr>
        <p:spPr>
          <a:xfrm>
            <a:off x="8220456" y="3822192"/>
            <a:ext cx="365760" cy="365760"/>
          </a:xfrm>
          <a:prstGeom prst="rect">
            <a:avLst/>
          </a:prstGeom>
          <a:noFill/>
          <a:ln/>
        </p:spPr>
        <p:txBody>
          <a:bodyPr wrap="non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p:nvPr/>
        </p:nvSpPr>
        <p:spPr>
          <a:xfrm>
            <a:off x="8220456" y="4279392"/>
            <a:ext cx="3191256" cy="640080"/>
          </a:xfrm>
          <a:prstGeom prst="rect">
            <a:avLst/>
          </a:prstGeom>
          <a:noFill/>
          <a:ln/>
        </p:spPr>
        <p:txBody>
          <a:bodyPr wrap="square" rtlCol="0" anchor="t"/>
          <a:lstStyle/>
          <a:p>
            <a:pPr marL="0" indent="0">
              <a:lnSpc>
                <a:spcPct val="110000"/>
              </a:lnSpc>
              <a:buNone/>
            </a:pPr>
            <a:r>
              <a:rPr lang="en-US" sz="1100" dirty="0">
                <a:solidFill>
                  <a:srgbClr val="1B2430"/>
                </a:solidFill>
                <a:latin typeface="Calibri" pitchFamily="34" charset="0"/>
                <a:ea typeface="Calibri" pitchFamily="34" charset="-122"/>
                <a:cs typeface="Calibri" pitchFamily="34" charset="-120"/>
              </a:rPr>
              <a:t>Warning → vibrate + app alert + log; Emergency → confirm or auto-escalate with GPS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SAFETY LOGIC</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Emergency Workflow: Risk Decision Flow</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777240" y="1737360"/>
            <a:ext cx="2286000" cy="960120"/>
          </a:xfrm>
          <a:prstGeom prst="roundRect">
            <a:avLst>
              <a:gd name="adj" fmla="val 5714"/>
            </a:avLst>
          </a:prstGeom>
          <a:solidFill>
            <a:srgbClr val="FFFFFF"/>
          </a:solidFill>
          <a:ln w="19050">
            <a:solidFill>
              <a:srgbClr val="118AB2"/>
            </a:solidFill>
            <a:prstDash val="solid"/>
          </a:ln>
          <a:effectLst>
            <a:outerShdw blurRad="50800" dist="12700" dir="5400000" algn="bl" rotWithShape="0">
              <a:srgbClr val="1B2430">
                <a:alpha val="12000"/>
              </a:srgbClr>
            </a:outerShdw>
          </a:effectLst>
        </p:spPr>
      </p:sp>
      <p:sp>
        <p:nvSpPr>
          <p:cNvPr id="7" name="Text 5"/>
          <p:cNvSpPr/>
          <p:nvPr/>
        </p:nvSpPr>
        <p:spPr>
          <a:xfrm>
            <a:off x="850392" y="1792224"/>
            <a:ext cx="2139696" cy="85039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Continuous Sensing</a:t>
            </a:r>
            <a:endParaRPr lang="en-US" sz="1150" dirty="0"/>
          </a:p>
          <a:p>
            <a:pPr marL="0" indent="0" algn="ctr">
              <a:buNone/>
            </a:pPr>
            <a:r>
              <a:rPr lang="en-US" sz="900" dirty="0">
                <a:solidFill>
                  <a:srgbClr val="5B6472"/>
                </a:solidFill>
                <a:latin typeface="Calibri" pitchFamily="34" charset="0"/>
                <a:ea typeface="Calibri" pitchFamily="34" charset="-122"/>
                <a:cs typeface="Calibri" pitchFamily="34" charset="-120"/>
              </a:rPr>
              <a:t>raw samples</a:t>
            </a:r>
            <a:endParaRPr lang="en-US" sz="1150" dirty="0"/>
          </a:p>
        </p:txBody>
      </p:sp>
      <p:sp>
        <p:nvSpPr>
          <p:cNvPr id="8" name="Shape 6"/>
          <p:cNvSpPr/>
          <p:nvPr/>
        </p:nvSpPr>
        <p:spPr>
          <a:xfrm>
            <a:off x="3383280" y="1737360"/>
            <a:ext cx="2286000" cy="960120"/>
          </a:xfrm>
          <a:prstGeom prst="roundRect">
            <a:avLst>
              <a:gd name="adj" fmla="val 5714"/>
            </a:avLst>
          </a:prstGeom>
          <a:solidFill>
            <a:srgbClr val="FFFFFF"/>
          </a:solidFill>
          <a:ln w="19050">
            <a:solidFill>
              <a:srgbClr val="6C5CE7"/>
            </a:solidFill>
            <a:prstDash val="solid"/>
          </a:ln>
          <a:effectLst>
            <a:outerShdw blurRad="50800" dist="12700" dir="5400000" algn="bl" rotWithShape="0">
              <a:srgbClr val="1B2430">
                <a:alpha val="12000"/>
              </a:srgbClr>
            </a:outerShdw>
          </a:effectLst>
        </p:spPr>
      </p:sp>
      <p:sp>
        <p:nvSpPr>
          <p:cNvPr id="9" name="Text 7"/>
          <p:cNvSpPr/>
          <p:nvPr/>
        </p:nvSpPr>
        <p:spPr>
          <a:xfrm>
            <a:off x="3456432" y="1792224"/>
            <a:ext cx="2139696" cy="85039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Signal-Quality Check</a:t>
            </a:r>
            <a:endParaRPr lang="en-US" sz="1150" dirty="0"/>
          </a:p>
          <a:p>
            <a:pPr marL="0" indent="0" algn="ctr">
              <a:buNone/>
            </a:pPr>
            <a:r>
              <a:rPr lang="en-US" sz="900" dirty="0">
                <a:solidFill>
                  <a:srgbClr val="5B6472"/>
                </a:solidFill>
                <a:latin typeface="Calibri" pitchFamily="34" charset="0"/>
                <a:ea typeface="Calibri" pitchFamily="34" charset="-122"/>
                <a:cs typeface="Calibri" pitchFamily="34" charset="-120"/>
              </a:rPr>
              <a:t>valid features</a:t>
            </a:r>
            <a:endParaRPr lang="en-US" sz="1150" dirty="0"/>
          </a:p>
        </p:txBody>
      </p:sp>
      <p:sp>
        <p:nvSpPr>
          <p:cNvPr id="10" name="Shape 8"/>
          <p:cNvSpPr/>
          <p:nvPr/>
        </p:nvSpPr>
        <p:spPr>
          <a:xfrm>
            <a:off x="5989320" y="1737360"/>
            <a:ext cx="2286000" cy="960120"/>
          </a:xfrm>
          <a:prstGeom prst="roundRect">
            <a:avLst>
              <a:gd name="adj" fmla="val 5714"/>
            </a:avLst>
          </a:prstGeom>
          <a:solidFill>
            <a:srgbClr val="FFFFFF"/>
          </a:solidFill>
          <a:ln w="19050">
            <a:solidFill>
              <a:srgbClr val="F1962B"/>
            </a:solidFill>
            <a:prstDash val="solid"/>
          </a:ln>
          <a:effectLst>
            <a:outerShdw blurRad="50800" dist="12700" dir="5400000" algn="bl" rotWithShape="0">
              <a:srgbClr val="1B2430">
                <a:alpha val="12000"/>
              </a:srgbClr>
            </a:outerShdw>
          </a:effectLst>
        </p:spPr>
      </p:sp>
      <p:sp>
        <p:nvSpPr>
          <p:cNvPr id="11" name="Text 9"/>
          <p:cNvSpPr/>
          <p:nvPr/>
        </p:nvSpPr>
        <p:spPr>
          <a:xfrm>
            <a:off x="6062472" y="1792224"/>
            <a:ext cx="2139696" cy="85039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Model + Thresholds</a:t>
            </a:r>
            <a:endParaRPr lang="en-US" sz="1150" dirty="0"/>
          </a:p>
        </p:txBody>
      </p:sp>
      <p:sp>
        <p:nvSpPr>
          <p:cNvPr id="12" name="Shape 10"/>
          <p:cNvSpPr/>
          <p:nvPr/>
        </p:nvSpPr>
        <p:spPr>
          <a:xfrm>
            <a:off x="4892040" y="3246120"/>
            <a:ext cx="2377440" cy="1005840"/>
          </a:xfrm>
          <a:prstGeom prst="roundRect">
            <a:avLst>
              <a:gd name="adj" fmla="val 8182"/>
            </a:avLst>
          </a:prstGeom>
          <a:solidFill>
            <a:srgbClr val="0B2545"/>
          </a:solidFill>
          <a:ln/>
          <a:effectLst>
            <a:outerShdw blurRad="76200" dist="25400" dir="5400000" algn="bl" rotWithShape="0">
              <a:srgbClr val="1B2430">
                <a:alpha val="20000"/>
              </a:srgbClr>
            </a:outerShdw>
          </a:effectLst>
        </p:spPr>
      </p:sp>
      <p:sp>
        <p:nvSpPr>
          <p:cNvPr id="13" name="Text 11"/>
          <p:cNvSpPr/>
          <p:nvPr/>
        </p:nvSpPr>
        <p:spPr>
          <a:xfrm>
            <a:off x="4892040" y="3246120"/>
            <a:ext cx="2377440" cy="10058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Risk Decision</a:t>
            </a:r>
            <a:endParaRPr lang="en-US" sz="1400" dirty="0"/>
          </a:p>
        </p:txBody>
      </p:sp>
      <p:sp>
        <p:nvSpPr>
          <p:cNvPr id="14" name="Shape 12"/>
          <p:cNvSpPr/>
          <p:nvPr/>
        </p:nvSpPr>
        <p:spPr>
          <a:xfrm>
            <a:off x="1920240" y="2697480"/>
            <a:ext cx="4160520" cy="548640"/>
          </a:xfrm>
          <a:prstGeom prst="line">
            <a:avLst/>
          </a:prstGeom>
          <a:noFill/>
          <a:ln w="22225">
            <a:solidFill>
              <a:srgbClr val="5B6472"/>
            </a:solidFill>
            <a:prstDash val="solid"/>
            <a:tailEnd type="triangle"/>
          </a:ln>
        </p:spPr>
      </p:sp>
      <p:sp>
        <p:nvSpPr>
          <p:cNvPr id="15" name="Shape 13"/>
          <p:cNvSpPr/>
          <p:nvPr/>
        </p:nvSpPr>
        <p:spPr>
          <a:xfrm>
            <a:off x="4526280" y="2697480"/>
            <a:ext cx="1554480" cy="548640"/>
          </a:xfrm>
          <a:prstGeom prst="line">
            <a:avLst/>
          </a:prstGeom>
          <a:noFill/>
          <a:ln w="22225">
            <a:solidFill>
              <a:srgbClr val="5B6472"/>
            </a:solidFill>
            <a:prstDash val="solid"/>
            <a:tailEnd type="triangle"/>
          </a:ln>
        </p:spPr>
      </p:sp>
      <p:sp>
        <p:nvSpPr>
          <p:cNvPr id="16" name="Shape 14"/>
          <p:cNvSpPr/>
          <p:nvPr/>
        </p:nvSpPr>
        <p:spPr>
          <a:xfrm flipH="1">
            <a:off x="6080760" y="2697480"/>
            <a:ext cx="1051560" cy="548640"/>
          </a:xfrm>
          <a:prstGeom prst="line">
            <a:avLst/>
          </a:prstGeom>
          <a:noFill/>
          <a:ln w="22225">
            <a:solidFill>
              <a:srgbClr val="5B6472"/>
            </a:solidFill>
            <a:prstDash val="solid"/>
            <a:tailEnd type="triangle"/>
          </a:ln>
        </p:spPr>
      </p:sp>
      <p:sp>
        <p:nvSpPr>
          <p:cNvPr id="17" name="Shape 15"/>
          <p:cNvSpPr/>
          <p:nvPr/>
        </p:nvSpPr>
        <p:spPr>
          <a:xfrm>
            <a:off x="594360" y="5074920"/>
            <a:ext cx="2651760" cy="914400"/>
          </a:xfrm>
          <a:prstGeom prst="roundRect">
            <a:avLst>
              <a:gd name="adj" fmla="val 6000"/>
            </a:avLst>
          </a:prstGeom>
          <a:solidFill>
            <a:srgbClr val="FFFFFF"/>
          </a:solidFill>
          <a:ln w="19050">
            <a:solidFill>
              <a:srgbClr val="2DA44E"/>
            </a:solidFill>
            <a:prstDash val="solid"/>
          </a:ln>
          <a:effectLst>
            <a:outerShdw blurRad="50800" dist="12700" dir="5400000" algn="bl" rotWithShape="0">
              <a:srgbClr val="1B2430">
                <a:alpha val="12000"/>
              </a:srgbClr>
            </a:outerShdw>
          </a:effectLst>
        </p:spPr>
      </p:sp>
      <p:sp>
        <p:nvSpPr>
          <p:cNvPr id="18" name="Text 16"/>
          <p:cNvSpPr/>
          <p:nvPr/>
        </p:nvSpPr>
        <p:spPr>
          <a:xfrm>
            <a:off x="667512" y="5129784"/>
            <a:ext cx="2505456" cy="80467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Normal</a:t>
            </a:r>
            <a:endParaRPr lang="en-US" sz="1150" dirty="0"/>
          </a:p>
          <a:p>
            <a:pPr marL="0" indent="0" algn="ctr">
              <a:buNone/>
            </a:pPr>
            <a:r>
              <a:rPr lang="en-US" sz="900" dirty="0">
                <a:solidFill>
                  <a:srgbClr val="5B6472"/>
                </a:solidFill>
                <a:latin typeface="Calibri" pitchFamily="34" charset="0"/>
                <a:ea typeface="Calibri" pitchFamily="34" charset="-122"/>
                <a:cs typeface="Calibri" pitchFamily="34" charset="-120"/>
              </a:rPr>
              <a:t>Log + display</a:t>
            </a:r>
            <a:endParaRPr lang="en-US" sz="1150" dirty="0"/>
          </a:p>
        </p:txBody>
      </p:sp>
      <p:sp>
        <p:nvSpPr>
          <p:cNvPr id="19" name="Shape 17"/>
          <p:cNvSpPr/>
          <p:nvPr/>
        </p:nvSpPr>
        <p:spPr>
          <a:xfrm flipH="1">
            <a:off x="1920240" y="4251960"/>
            <a:ext cx="4160520" cy="822960"/>
          </a:xfrm>
          <a:prstGeom prst="line">
            <a:avLst/>
          </a:prstGeom>
          <a:noFill/>
          <a:ln w="22225">
            <a:solidFill>
              <a:srgbClr val="2DA44E"/>
            </a:solidFill>
            <a:prstDash val="solid"/>
            <a:tailEnd type="triangle"/>
          </a:ln>
        </p:spPr>
      </p:sp>
      <p:sp>
        <p:nvSpPr>
          <p:cNvPr id="20" name="Shape 18"/>
          <p:cNvSpPr/>
          <p:nvPr/>
        </p:nvSpPr>
        <p:spPr>
          <a:xfrm>
            <a:off x="3611880" y="5074920"/>
            <a:ext cx="2651760" cy="914400"/>
          </a:xfrm>
          <a:prstGeom prst="roundRect">
            <a:avLst>
              <a:gd name="adj" fmla="val 6000"/>
            </a:avLst>
          </a:prstGeom>
          <a:solidFill>
            <a:srgbClr val="FFFFFF"/>
          </a:solidFill>
          <a:ln w="19050">
            <a:solidFill>
              <a:srgbClr val="F1962B"/>
            </a:solidFill>
            <a:prstDash val="solid"/>
          </a:ln>
          <a:effectLst>
            <a:outerShdw blurRad="50800" dist="12700" dir="5400000" algn="bl" rotWithShape="0">
              <a:srgbClr val="1B2430">
                <a:alpha val="12000"/>
              </a:srgbClr>
            </a:outerShdw>
          </a:effectLst>
        </p:spPr>
      </p:sp>
      <p:sp>
        <p:nvSpPr>
          <p:cNvPr id="21" name="Text 19"/>
          <p:cNvSpPr/>
          <p:nvPr/>
        </p:nvSpPr>
        <p:spPr>
          <a:xfrm>
            <a:off x="3685032" y="5129784"/>
            <a:ext cx="2505456" cy="80467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Warning</a:t>
            </a:r>
            <a:endParaRPr lang="en-US" sz="1150" dirty="0"/>
          </a:p>
          <a:p>
            <a:pPr marL="0" indent="0" algn="ctr">
              <a:buNone/>
            </a:pPr>
            <a:r>
              <a:rPr lang="en-US" sz="900" dirty="0">
                <a:solidFill>
                  <a:srgbClr val="5B6472"/>
                </a:solidFill>
                <a:latin typeface="Calibri" pitchFamily="34" charset="0"/>
                <a:ea typeface="Calibri" pitchFamily="34" charset="-122"/>
                <a:cs typeface="Calibri" pitchFamily="34" charset="-120"/>
              </a:rPr>
              <a:t>Vibration + app alert</a:t>
            </a:r>
            <a:endParaRPr lang="en-US" sz="1150" dirty="0"/>
          </a:p>
        </p:txBody>
      </p:sp>
      <p:sp>
        <p:nvSpPr>
          <p:cNvPr id="22" name="Shape 20"/>
          <p:cNvSpPr/>
          <p:nvPr/>
        </p:nvSpPr>
        <p:spPr>
          <a:xfrm flipH="1">
            <a:off x="4937760" y="4251960"/>
            <a:ext cx="1143000" cy="822960"/>
          </a:xfrm>
          <a:prstGeom prst="line">
            <a:avLst/>
          </a:prstGeom>
          <a:noFill/>
          <a:ln w="22225">
            <a:solidFill>
              <a:srgbClr val="F1962B"/>
            </a:solidFill>
            <a:prstDash val="solid"/>
            <a:tailEnd type="triangle"/>
          </a:ln>
        </p:spPr>
      </p:sp>
      <p:sp>
        <p:nvSpPr>
          <p:cNvPr id="23" name="Shape 21"/>
          <p:cNvSpPr/>
          <p:nvPr/>
        </p:nvSpPr>
        <p:spPr>
          <a:xfrm>
            <a:off x="6629400" y="5074920"/>
            <a:ext cx="2651760" cy="914400"/>
          </a:xfrm>
          <a:prstGeom prst="roundRect">
            <a:avLst>
              <a:gd name="adj" fmla="val 6000"/>
            </a:avLst>
          </a:prstGeom>
          <a:solidFill>
            <a:srgbClr val="FFFFFF"/>
          </a:solidFill>
          <a:ln w="19050">
            <a:solidFill>
              <a:srgbClr val="E63946"/>
            </a:solidFill>
            <a:prstDash val="solid"/>
          </a:ln>
          <a:effectLst>
            <a:outerShdw blurRad="50800" dist="12700" dir="5400000" algn="bl" rotWithShape="0">
              <a:srgbClr val="1B2430">
                <a:alpha val="12000"/>
              </a:srgbClr>
            </a:outerShdw>
          </a:effectLst>
        </p:spPr>
      </p:sp>
      <p:sp>
        <p:nvSpPr>
          <p:cNvPr id="24" name="Text 22"/>
          <p:cNvSpPr/>
          <p:nvPr/>
        </p:nvSpPr>
        <p:spPr>
          <a:xfrm>
            <a:off x="6702552" y="5129784"/>
            <a:ext cx="2505456" cy="804672"/>
          </a:xfrm>
          <a:prstGeom prst="rect">
            <a:avLst/>
          </a:prstGeom>
          <a:noFill/>
          <a:ln/>
        </p:spPr>
        <p:txBody>
          <a:bodyPr wrap="square"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Emergency</a:t>
            </a:r>
            <a:endParaRPr lang="en-US" sz="1150" dirty="0"/>
          </a:p>
          <a:p>
            <a:pPr marL="0" indent="0" algn="ctr">
              <a:buNone/>
            </a:pPr>
            <a:r>
              <a:rPr lang="en-US" sz="900" dirty="0">
                <a:solidFill>
                  <a:srgbClr val="5B6472"/>
                </a:solidFill>
                <a:latin typeface="Calibri" pitchFamily="34" charset="0"/>
                <a:ea typeface="Calibri" pitchFamily="34" charset="-122"/>
                <a:cs typeface="Calibri" pitchFamily="34" charset="-120"/>
              </a:rPr>
              <a:t>SOS + GPS message</a:t>
            </a:r>
            <a:endParaRPr lang="en-US" sz="1150" dirty="0"/>
          </a:p>
        </p:txBody>
      </p:sp>
      <p:sp>
        <p:nvSpPr>
          <p:cNvPr id="25" name="Shape 23"/>
          <p:cNvSpPr/>
          <p:nvPr/>
        </p:nvSpPr>
        <p:spPr>
          <a:xfrm>
            <a:off x="6080760" y="4251960"/>
            <a:ext cx="1874520" cy="822960"/>
          </a:xfrm>
          <a:prstGeom prst="line">
            <a:avLst/>
          </a:prstGeom>
          <a:noFill/>
          <a:ln w="22225">
            <a:solidFill>
              <a:srgbClr val="E63946"/>
            </a:solidFill>
            <a:prstDash val="solid"/>
            <a:tailEnd type="triangle"/>
          </a:ln>
        </p:spPr>
      </p:sp>
      <p:sp>
        <p:nvSpPr>
          <p:cNvPr id="26" name="Text 24"/>
          <p:cNvSpPr/>
          <p:nvPr/>
        </p:nvSpPr>
        <p:spPr>
          <a:xfrm>
            <a:off x="1554480" y="4297680"/>
            <a:ext cx="731520" cy="228600"/>
          </a:xfrm>
          <a:prstGeom prst="rect">
            <a:avLst/>
          </a:prstGeom>
          <a:noFill/>
          <a:ln/>
        </p:spPr>
        <p:txBody>
          <a:bodyPr wrap="square" rtlCol="0" anchor="ctr"/>
          <a:lstStyle/>
          <a:p>
            <a:pPr marL="0" indent="0" algn="ctr">
              <a:buNone/>
            </a:pPr>
            <a:r>
              <a:rPr lang="en-US" sz="900" i="1" dirty="0">
                <a:solidFill>
                  <a:srgbClr val="5B6472"/>
                </a:solidFill>
                <a:latin typeface="Calibri" pitchFamily="34" charset="0"/>
                <a:ea typeface="Calibri" pitchFamily="34" charset="-122"/>
                <a:cs typeface="Calibri" pitchFamily="34" charset="-120"/>
              </a:rPr>
              <a:t>low</a:t>
            </a:r>
            <a:endParaRPr lang="en-US" sz="900" dirty="0"/>
          </a:p>
        </p:txBody>
      </p:sp>
      <p:sp>
        <p:nvSpPr>
          <p:cNvPr id="27" name="Text 25"/>
          <p:cNvSpPr/>
          <p:nvPr/>
        </p:nvSpPr>
        <p:spPr>
          <a:xfrm>
            <a:off x="4572000" y="4297680"/>
            <a:ext cx="731520" cy="228600"/>
          </a:xfrm>
          <a:prstGeom prst="rect">
            <a:avLst/>
          </a:prstGeom>
          <a:noFill/>
          <a:ln/>
        </p:spPr>
        <p:txBody>
          <a:bodyPr wrap="square" rtlCol="0" anchor="ctr"/>
          <a:lstStyle/>
          <a:p>
            <a:pPr marL="0" indent="0" algn="ctr">
              <a:buNone/>
            </a:pPr>
            <a:r>
              <a:rPr lang="en-US" sz="900" i="1" dirty="0">
                <a:solidFill>
                  <a:srgbClr val="5B6472"/>
                </a:solidFill>
                <a:latin typeface="Calibri" pitchFamily="34" charset="0"/>
                <a:ea typeface="Calibri" pitchFamily="34" charset="-122"/>
                <a:cs typeface="Calibri" pitchFamily="34" charset="-120"/>
              </a:rPr>
              <a:t>medium</a:t>
            </a:r>
            <a:endParaRPr lang="en-US" sz="900" dirty="0"/>
          </a:p>
        </p:txBody>
      </p:sp>
      <p:sp>
        <p:nvSpPr>
          <p:cNvPr id="28" name="Text 26"/>
          <p:cNvSpPr/>
          <p:nvPr/>
        </p:nvSpPr>
        <p:spPr>
          <a:xfrm>
            <a:off x="7498080" y="4297680"/>
            <a:ext cx="914400" cy="228600"/>
          </a:xfrm>
          <a:prstGeom prst="rect">
            <a:avLst/>
          </a:prstGeom>
          <a:noFill/>
          <a:ln/>
        </p:spPr>
        <p:txBody>
          <a:bodyPr wrap="square" rtlCol="0" anchor="ctr"/>
          <a:lstStyle/>
          <a:p>
            <a:pPr marL="0" indent="0" algn="ctr">
              <a:buNone/>
            </a:pPr>
            <a:r>
              <a:rPr lang="en-US" sz="900" i="1" dirty="0">
                <a:solidFill>
                  <a:srgbClr val="5B6472"/>
                </a:solidFill>
                <a:latin typeface="Calibri" pitchFamily="34" charset="0"/>
                <a:ea typeface="Calibri" pitchFamily="34" charset="-122"/>
                <a:cs typeface="Calibri" pitchFamily="34" charset="-120"/>
              </a:rPr>
              <a:t>high / SOS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REQUIREMENTS</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Hardware Requirements</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4526280"/>
        </p:xfrm>
        <a:graphic>
          <a:graphicData uri="http://schemas.openxmlformats.org/drawingml/2006/table">
            <a:tbl>
              <a:tblPr/>
              <a:tblGrid>
                <a:gridCol w="24688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6245352">
                  <a:extLst>
                    <a:ext uri="{9D8B030D-6E8A-4147-A177-3AD203B41FA5}">
                      <a16:colId xmlns:a16="http://schemas.microsoft.com/office/drawing/2014/main" val="20002"/>
                    </a:ext>
                  </a:extLst>
                </a:gridCol>
              </a:tblGrid>
              <a:tr h="50292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Interface</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50292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XIAO ESP32-S3</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I2C, ADC, GPIO, BLE, USB</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Main embedded controller: acquisition, preprocessing, BLE, alert control</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MAX30102</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I2C</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PPG, heart-rate trend, SpO2 estimation, pulse signal quality</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AD8232</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Analog ADC + lead-off GPIO</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Single-lead ECG waveform, R-peak / RR feature extraction</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GSR/EDA module</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Analog ADC</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Skin conductance / arousal feature for stress classification</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ICM-42688 (IMU)</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I2C / SPI</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Acceleration, gyroscope, fall / activity detection</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BMP390</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I2C / SPI</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Pressure &amp; altitude trend for context and vertical movement</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6"/>
                  </a:ext>
                </a:extLst>
              </a:tr>
              <a:tr h="50292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GPS module</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UART</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Location coordinates for the emergency workflow</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7"/>
                  </a:ext>
                </a:extLst>
              </a:tr>
              <a:tr h="50292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SOS button / Vibration motor</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GPIO interrupt / GPIO-PWM</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Manual emergency trigger; silent haptic warning &amp; confirmation</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REQUIREMENTS</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Software &amp; Technology Stack</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02920" y="1691640"/>
            <a:ext cx="3474720" cy="1417320"/>
          </a:xfrm>
          <a:prstGeom prst="roundRect">
            <a:avLst>
              <a:gd name="adj" fmla="val 5161"/>
            </a:avLst>
          </a:prstGeom>
          <a:solidFill>
            <a:srgbClr val="FFFFFF"/>
          </a:solidFill>
          <a:ln w="9525">
            <a:solidFill>
              <a:srgbClr val="E2E6ED"/>
            </a:solidFill>
            <a:prstDash val="solid"/>
          </a:ln>
          <a:effectLst>
            <a:outerShdw blurRad="76200" dist="25400" dir="5400000" algn="bl" rotWithShape="0">
              <a:srgbClr val="1B2430">
                <a:alpha val="18000"/>
              </a:srgbClr>
            </a:outerShdw>
          </a:effectLst>
        </p:spPr>
      </p:sp>
      <p:sp>
        <p:nvSpPr>
          <p:cNvPr id="7" name="Shape 5"/>
          <p:cNvSpPr/>
          <p:nvPr/>
        </p:nvSpPr>
        <p:spPr>
          <a:xfrm>
            <a:off x="704088" y="1892808"/>
            <a:ext cx="384048" cy="384048"/>
          </a:xfrm>
          <a:prstGeom prst="ellipse">
            <a:avLst/>
          </a:prstGeom>
          <a:solidFill>
            <a:srgbClr val="118AB2"/>
          </a:solidFill>
          <a:ln/>
        </p:spPr>
      </p:sp>
      <p:sp>
        <p:nvSpPr>
          <p:cNvPr id="8" name="Text 6"/>
          <p:cNvSpPr/>
          <p:nvPr/>
        </p:nvSpPr>
        <p:spPr>
          <a:xfrm>
            <a:off x="704088" y="1892808"/>
            <a:ext cx="384048" cy="384048"/>
          </a:xfrm>
          <a:prstGeom prst="rect">
            <a:avLst/>
          </a:prstGeom>
          <a:noFill/>
          <a:ln/>
        </p:spPr>
        <p:txBody>
          <a:bodyPr wrap="none" rtlCol="0" anchor="ctr"/>
          <a:lstStyle/>
          <a:p>
            <a:pPr marL="0" indent="0" algn="ctr">
              <a:buNone/>
            </a:pPr>
            <a:endParaRPr lang="en-US" sz="1200" dirty="0"/>
          </a:p>
        </p:txBody>
      </p:sp>
      <p:sp>
        <p:nvSpPr>
          <p:cNvPr id="9" name="Text 7"/>
          <p:cNvSpPr/>
          <p:nvPr/>
        </p:nvSpPr>
        <p:spPr>
          <a:xfrm>
            <a:off x="1225296" y="1856232"/>
            <a:ext cx="2542032" cy="4572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Embedded Firmware</a:t>
            </a:r>
            <a:endParaRPr lang="en-US" sz="1400" dirty="0"/>
          </a:p>
        </p:txBody>
      </p:sp>
      <p:sp>
        <p:nvSpPr>
          <p:cNvPr id="10" name="Text 8"/>
          <p:cNvSpPr/>
          <p:nvPr/>
        </p:nvSpPr>
        <p:spPr>
          <a:xfrm>
            <a:off x="704088" y="2377440"/>
            <a:ext cx="3072384" cy="548640"/>
          </a:xfrm>
          <a:prstGeom prst="rect">
            <a:avLst/>
          </a:prstGeom>
          <a:noFill/>
          <a:ln/>
        </p:spPr>
        <p:txBody>
          <a:bodyPr wrap="square" rtlCol="0" anchor="t"/>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Arduino/C++ or ESP-IDF on XIAO ESP32-S3</a:t>
            </a:r>
            <a:endParaRPr lang="en-US" sz="1100" dirty="0"/>
          </a:p>
        </p:txBody>
      </p:sp>
      <p:sp>
        <p:nvSpPr>
          <p:cNvPr id="11" name="Shape 9"/>
          <p:cNvSpPr/>
          <p:nvPr/>
        </p:nvSpPr>
        <p:spPr>
          <a:xfrm>
            <a:off x="4233672" y="1691640"/>
            <a:ext cx="3474720" cy="1417320"/>
          </a:xfrm>
          <a:prstGeom prst="roundRect">
            <a:avLst>
              <a:gd name="adj" fmla="val 5161"/>
            </a:avLst>
          </a:prstGeom>
          <a:solidFill>
            <a:srgbClr val="FFFFFF"/>
          </a:solidFill>
          <a:ln w="9525">
            <a:solidFill>
              <a:srgbClr val="E2E6ED"/>
            </a:solidFill>
            <a:prstDash val="solid"/>
          </a:ln>
          <a:effectLst>
            <a:outerShdw blurRad="76200" dist="25400" dir="5400000" algn="bl" rotWithShape="0">
              <a:srgbClr val="1B2430">
                <a:alpha val="18000"/>
              </a:srgbClr>
            </a:outerShdw>
          </a:effectLst>
        </p:spPr>
      </p:sp>
      <p:sp>
        <p:nvSpPr>
          <p:cNvPr id="12" name="Shape 10"/>
          <p:cNvSpPr/>
          <p:nvPr/>
        </p:nvSpPr>
        <p:spPr>
          <a:xfrm>
            <a:off x="4434840" y="1892808"/>
            <a:ext cx="384048" cy="384048"/>
          </a:xfrm>
          <a:prstGeom prst="ellipse">
            <a:avLst/>
          </a:prstGeom>
          <a:solidFill>
            <a:srgbClr val="6C5CE7"/>
          </a:solidFill>
          <a:ln/>
        </p:spPr>
      </p:sp>
      <p:sp>
        <p:nvSpPr>
          <p:cNvPr id="13" name="Text 11"/>
          <p:cNvSpPr/>
          <p:nvPr/>
        </p:nvSpPr>
        <p:spPr>
          <a:xfrm>
            <a:off x="4434840" y="1892808"/>
            <a:ext cx="384048" cy="384048"/>
          </a:xfrm>
          <a:prstGeom prst="rect">
            <a:avLst/>
          </a:prstGeom>
          <a:noFill/>
          <a:ln/>
        </p:spPr>
        <p:txBody>
          <a:bodyPr wrap="none" rtlCol="0" anchor="ctr"/>
          <a:lstStyle/>
          <a:p>
            <a:pPr marL="0" indent="0" algn="ctr">
              <a:buNone/>
            </a:pPr>
            <a:endParaRPr lang="en-US" sz="1200" dirty="0"/>
          </a:p>
        </p:txBody>
      </p:sp>
      <p:sp>
        <p:nvSpPr>
          <p:cNvPr id="14" name="Text 12"/>
          <p:cNvSpPr/>
          <p:nvPr/>
        </p:nvSpPr>
        <p:spPr>
          <a:xfrm>
            <a:off x="4956048" y="1856232"/>
            <a:ext cx="2542032" cy="4572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Mobile Application</a:t>
            </a:r>
            <a:endParaRPr lang="en-US" sz="1400" dirty="0"/>
          </a:p>
        </p:txBody>
      </p:sp>
      <p:sp>
        <p:nvSpPr>
          <p:cNvPr id="15" name="Text 13"/>
          <p:cNvSpPr/>
          <p:nvPr/>
        </p:nvSpPr>
        <p:spPr>
          <a:xfrm>
            <a:off x="4434840" y="2377440"/>
            <a:ext cx="3072384" cy="548640"/>
          </a:xfrm>
          <a:prstGeom prst="rect">
            <a:avLst/>
          </a:prstGeom>
          <a:noFill/>
          <a:ln/>
        </p:spPr>
        <p:txBody>
          <a:bodyPr wrap="square" rtlCol="0" anchor="t"/>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Flutter and Dart</a:t>
            </a:r>
            <a:endParaRPr lang="en-US" sz="1100" dirty="0"/>
          </a:p>
        </p:txBody>
      </p:sp>
      <p:sp>
        <p:nvSpPr>
          <p:cNvPr id="16" name="Shape 14"/>
          <p:cNvSpPr/>
          <p:nvPr/>
        </p:nvSpPr>
        <p:spPr>
          <a:xfrm>
            <a:off x="7964424" y="1691640"/>
            <a:ext cx="3474720" cy="1417320"/>
          </a:xfrm>
          <a:prstGeom prst="roundRect">
            <a:avLst>
              <a:gd name="adj" fmla="val 5161"/>
            </a:avLst>
          </a:prstGeom>
          <a:solidFill>
            <a:srgbClr val="FFFFFF"/>
          </a:solidFill>
          <a:ln w="9525">
            <a:solidFill>
              <a:srgbClr val="E2E6ED"/>
            </a:solidFill>
            <a:prstDash val="solid"/>
          </a:ln>
          <a:effectLst>
            <a:outerShdw blurRad="76200" dist="25400" dir="5400000" algn="bl" rotWithShape="0">
              <a:srgbClr val="1B2430">
                <a:alpha val="18000"/>
              </a:srgbClr>
            </a:outerShdw>
          </a:effectLst>
        </p:spPr>
      </p:sp>
      <p:sp>
        <p:nvSpPr>
          <p:cNvPr id="17" name="Shape 15"/>
          <p:cNvSpPr/>
          <p:nvPr/>
        </p:nvSpPr>
        <p:spPr>
          <a:xfrm>
            <a:off x="8165592" y="1892808"/>
            <a:ext cx="384048" cy="384048"/>
          </a:xfrm>
          <a:prstGeom prst="ellipse">
            <a:avLst/>
          </a:prstGeom>
          <a:solidFill>
            <a:srgbClr val="F1962B"/>
          </a:solidFill>
          <a:ln/>
        </p:spPr>
      </p:sp>
      <p:sp>
        <p:nvSpPr>
          <p:cNvPr id="18" name="Text 16"/>
          <p:cNvSpPr/>
          <p:nvPr/>
        </p:nvSpPr>
        <p:spPr>
          <a:xfrm>
            <a:off x="8165592" y="1892808"/>
            <a:ext cx="384048" cy="384048"/>
          </a:xfrm>
          <a:prstGeom prst="rect">
            <a:avLst/>
          </a:prstGeom>
          <a:noFill/>
          <a:ln/>
        </p:spPr>
        <p:txBody>
          <a:bodyPr wrap="none" rtlCol="0" anchor="ctr"/>
          <a:lstStyle/>
          <a:p>
            <a:pPr marL="0" indent="0" algn="ctr">
              <a:buNone/>
            </a:pPr>
            <a:endParaRPr lang="en-US" sz="1200" dirty="0"/>
          </a:p>
        </p:txBody>
      </p:sp>
      <p:sp>
        <p:nvSpPr>
          <p:cNvPr id="19" name="Text 17"/>
          <p:cNvSpPr/>
          <p:nvPr/>
        </p:nvSpPr>
        <p:spPr>
          <a:xfrm>
            <a:off x="8686800" y="1856232"/>
            <a:ext cx="2542032" cy="4572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AI Development</a:t>
            </a:r>
            <a:endParaRPr lang="en-US" sz="1400" dirty="0"/>
          </a:p>
        </p:txBody>
      </p:sp>
      <p:sp>
        <p:nvSpPr>
          <p:cNvPr id="20" name="Text 18"/>
          <p:cNvSpPr/>
          <p:nvPr/>
        </p:nvSpPr>
        <p:spPr>
          <a:xfrm>
            <a:off x="8165592" y="2377440"/>
            <a:ext cx="3072384" cy="548640"/>
          </a:xfrm>
          <a:prstGeom prst="rect">
            <a:avLst/>
          </a:prstGeom>
          <a:noFill/>
          <a:ln/>
        </p:spPr>
        <p:txBody>
          <a:bodyPr wrap="square" rtlCol="0" anchor="t"/>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Python, NumPy, SciPy, scikit-learn, TensorFlow/PyTorch</a:t>
            </a:r>
            <a:endParaRPr lang="en-US" sz="1100" dirty="0"/>
          </a:p>
        </p:txBody>
      </p:sp>
      <p:sp>
        <p:nvSpPr>
          <p:cNvPr id="21" name="Shape 19"/>
          <p:cNvSpPr/>
          <p:nvPr/>
        </p:nvSpPr>
        <p:spPr>
          <a:xfrm>
            <a:off x="502920" y="3383280"/>
            <a:ext cx="3474720" cy="1417320"/>
          </a:xfrm>
          <a:prstGeom prst="roundRect">
            <a:avLst>
              <a:gd name="adj" fmla="val 5161"/>
            </a:avLst>
          </a:prstGeom>
          <a:solidFill>
            <a:srgbClr val="FFFFFF"/>
          </a:solidFill>
          <a:ln w="9525">
            <a:solidFill>
              <a:srgbClr val="E2E6ED"/>
            </a:solidFill>
            <a:prstDash val="solid"/>
          </a:ln>
          <a:effectLst>
            <a:outerShdw blurRad="76200" dist="25400" dir="5400000" algn="bl" rotWithShape="0">
              <a:srgbClr val="1B2430">
                <a:alpha val="18000"/>
              </a:srgbClr>
            </a:outerShdw>
          </a:effectLst>
        </p:spPr>
      </p:sp>
      <p:sp>
        <p:nvSpPr>
          <p:cNvPr id="22" name="Shape 20"/>
          <p:cNvSpPr/>
          <p:nvPr/>
        </p:nvSpPr>
        <p:spPr>
          <a:xfrm>
            <a:off x="704088" y="3584448"/>
            <a:ext cx="384048" cy="384048"/>
          </a:xfrm>
          <a:prstGeom prst="ellipse">
            <a:avLst/>
          </a:prstGeom>
          <a:solidFill>
            <a:srgbClr val="2DA44E"/>
          </a:solidFill>
          <a:ln/>
        </p:spPr>
      </p:sp>
      <p:sp>
        <p:nvSpPr>
          <p:cNvPr id="23" name="Text 21"/>
          <p:cNvSpPr/>
          <p:nvPr/>
        </p:nvSpPr>
        <p:spPr>
          <a:xfrm>
            <a:off x="704088" y="3584448"/>
            <a:ext cx="384048" cy="384048"/>
          </a:xfrm>
          <a:prstGeom prst="rect">
            <a:avLst/>
          </a:prstGeom>
          <a:noFill/>
          <a:ln/>
        </p:spPr>
        <p:txBody>
          <a:bodyPr wrap="none" rtlCol="0" anchor="ctr"/>
          <a:lstStyle/>
          <a:p>
            <a:pPr marL="0" indent="0" algn="ctr">
              <a:buNone/>
            </a:pPr>
            <a:endParaRPr lang="en-US" sz="1200" dirty="0"/>
          </a:p>
        </p:txBody>
      </p:sp>
      <p:sp>
        <p:nvSpPr>
          <p:cNvPr id="24" name="Text 22"/>
          <p:cNvSpPr/>
          <p:nvPr/>
        </p:nvSpPr>
        <p:spPr>
          <a:xfrm>
            <a:off x="1225296" y="3547872"/>
            <a:ext cx="2542032" cy="4572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Embedded Inference</a:t>
            </a:r>
            <a:endParaRPr lang="en-US" sz="1400" dirty="0"/>
          </a:p>
        </p:txBody>
      </p:sp>
      <p:sp>
        <p:nvSpPr>
          <p:cNvPr id="25" name="Text 23"/>
          <p:cNvSpPr/>
          <p:nvPr/>
        </p:nvSpPr>
        <p:spPr>
          <a:xfrm>
            <a:off x="704088" y="4069080"/>
            <a:ext cx="3072384" cy="548640"/>
          </a:xfrm>
          <a:prstGeom prst="rect">
            <a:avLst/>
          </a:prstGeom>
          <a:noFill/>
          <a:ln/>
        </p:spPr>
        <p:txBody>
          <a:bodyPr wrap="square" rtlCol="0" anchor="t"/>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TensorFlow Lite Micro or compact rule/ML model</a:t>
            </a:r>
            <a:endParaRPr lang="en-US" sz="1100" dirty="0"/>
          </a:p>
        </p:txBody>
      </p:sp>
      <p:sp>
        <p:nvSpPr>
          <p:cNvPr id="26" name="Shape 24"/>
          <p:cNvSpPr/>
          <p:nvPr/>
        </p:nvSpPr>
        <p:spPr>
          <a:xfrm>
            <a:off x="4233672" y="3383280"/>
            <a:ext cx="3474720" cy="1417320"/>
          </a:xfrm>
          <a:prstGeom prst="roundRect">
            <a:avLst>
              <a:gd name="adj" fmla="val 5161"/>
            </a:avLst>
          </a:prstGeom>
          <a:solidFill>
            <a:srgbClr val="FFFFFF"/>
          </a:solidFill>
          <a:ln w="9525">
            <a:solidFill>
              <a:srgbClr val="E2E6ED"/>
            </a:solidFill>
            <a:prstDash val="solid"/>
          </a:ln>
          <a:effectLst>
            <a:outerShdw blurRad="76200" dist="25400" dir="5400000" algn="bl" rotWithShape="0">
              <a:srgbClr val="1B2430">
                <a:alpha val="18000"/>
              </a:srgbClr>
            </a:outerShdw>
          </a:effectLst>
        </p:spPr>
      </p:sp>
      <p:sp>
        <p:nvSpPr>
          <p:cNvPr id="27" name="Shape 25"/>
          <p:cNvSpPr/>
          <p:nvPr/>
        </p:nvSpPr>
        <p:spPr>
          <a:xfrm>
            <a:off x="4434840" y="3584448"/>
            <a:ext cx="384048" cy="384048"/>
          </a:xfrm>
          <a:prstGeom prst="ellipse">
            <a:avLst/>
          </a:prstGeom>
          <a:solidFill>
            <a:srgbClr val="E63946"/>
          </a:solidFill>
          <a:ln/>
        </p:spPr>
      </p:sp>
      <p:sp>
        <p:nvSpPr>
          <p:cNvPr id="28" name="Text 26"/>
          <p:cNvSpPr/>
          <p:nvPr/>
        </p:nvSpPr>
        <p:spPr>
          <a:xfrm>
            <a:off x="4434840" y="3584448"/>
            <a:ext cx="384048" cy="384048"/>
          </a:xfrm>
          <a:prstGeom prst="rect">
            <a:avLst/>
          </a:prstGeom>
          <a:noFill/>
          <a:ln/>
        </p:spPr>
        <p:txBody>
          <a:bodyPr wrap="none" rtlCol="0" anchor="ctr"/>
          <a:lstStyle/>
          <a:p>
            <a:pPr marL="0" indent="0" algn="ctr">
              <a:buNone/>
            </a:pPr>
            <a:endParaRPr lang="en-US" sz="1200" dirty="0"/>
          </a:p>
        </p:txBody>
      </p:sp>
      <p:sp>
        <p:nvSpPr>
          <p:cNvPr id="29" name="Text 27"/>
          <p:cNvSpPr/>
          <p:nvPr/>
        </p:nvSpPr>
        <p:spPr>
          <a:xfrm>
            <a:off x="4956048" y="3547872"/>
            <a:ext cx="2542032" cy="45720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Data Storage</a:t>
            </a:r>
            <a:endParaRPr lang="en-US" sz="1400" dirty="0"/>
          </a:p>
        </p:txBody>
      </p:sp>
      <p:sp>
        <p:nvSpPr>
          <p:cNvPr id="30" name="Text 28"/>
          <p:cNvSpPr/>
          <p:nvPr/>
        </p:nvSpPr>
        <p:spPr>
          <a:xfrm>
            <a:off x="4434840" y="4069080"/>
            <a:ext cx="3072384" cy="548640"/>
          </a:xfrm>
          <a:prstGeom prst="rect">
            <a:avLst/>
          </a:prstGeom>
          <a:noFill/>
          <a:ln/>
        </p:spPr>
        <p:txBody>
          <a:bodyPr wrap="square" rtlCol="0" anchor="t"/>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CSV/JSON locally; optional secure database/cloud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IMPLEMENTATION</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System Modules: Firmware &amp; Mobile App</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15</a:t>
            </a:r>
            <a:endParaRPr lang="en-US" sz="900" dirty="0"/>
          </a:p>
        </p:txBody>
      </p:sp>
      <p:sp>
        <p:nvSpPr>
          <p:cNvPr id="6" name="Text 4"/>
          <p:cNvSpPr/>
          <p:nvPr/>
        </p:nvSpPr>
        <p:spPr>
          <a:xfrm>
            <a:off x="502920" y="1508760"/>
            <a:ext cx="5394960" cy="320040"/>
          </a:xfrm>
          <a:prstGeom prst="rect">
            <a:avLst/>
          </a:prstGeom>
          <a:noFill/>
          <a:ln/>
        </p:spPr>
        <p:txBody>
          <a:bodyPr wrap="square"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Embedded Firmware Modules</a:t>
            </a:r>
            <a:endParaRPr lang="en-US" sz="2000" dirty="0"/>
          </a:p>
        </p:txBody>
      </p:sp>
      <p:sp>
        <p:nvSpPr>
          <p:cNvPr id="7" name="Text 5"/>
          <p:cNvSpPr/>
          <p:nvPr/>
        </p:nvSpPr>
        <p:spPr>
          <a:xfrm>
            <a:off x="502920" y="1874520"/>
            <a:ext cx="5394960" cy="4206240"/>
          </a:xfrm>
          <a:prstGeom prst="rect">
            <a:avLst/>
          </a:prstGeom>
          <a:noFill/>
          <a:ln/>
        </p:spPr>
        <p:txBody>
          <a:bodyPr wrap="square" rtlCol="0" anchor="t"/>
          <a:lstStyle/>
          <a:p>
            <a:pPr marL="228600" indent="-228600">
              <a:spcAft>
                <a:spcPts val="700"/>
              </a:spcAft>
              <a:buSzPct val="100000"/>
              <a:buChar char="▪"/>
            </a:pPr>
            <a:r>
              <a:rPr lang="en-US" dirty="0">
                <a:solidFill>
                  <a:srgbClr val="1B2430"/>
                </a:solidFill>
                <a:latin typeface="Calibri" pitchFamily="34" charset="0"/>
                <a:ea typeface="Calibri" pitchFamily="34" charset="-122"/>
                <a:cs typeface="Calibri" pitchFamily="34" charset="-120"/>
              </a:rPr>
              <a:t>Sensor drivers — init, sample rates, fault detection</a:t>
            </a:r>
            <a:endParaRPr lang="en-US" dirty="0"/>
          </a:p>
          <a:p>
            <a:pPr marL="228600" indent="-228600">
              <a:spcAft>
                <a:spcPts val="700"/>
              </a:spcAft>
              <a:buSzPct val="100000"/>
              <a:buChar char="▪"/>
            </a:pPr>
            <a:r>
              <a:rPr lang="en-US" dirty="0">
                <a:solidFill>
                  <a:srgbClr val="1B2430"/>
                </a:solidFill>
                <a:latin typeface="Calibri" pitchFamily="34" charset="0"/>
                <a:ea typeface="Calibri" pitchFamily="34" charset="-122"/>
                <a:cs typeface="Calibri" pitchFamily="34" charset="-120"/>
              </a:rPr>
              <a:t>Scheduler — sampling windows, non-blocking timing</a:t>
            </a:r>
            <a:endParaRPr lang="en-US" dirty="0"/>
          </a:p>
          <a:p>
            <a:pPr marL="228600" indent="-228600">
              <a:spcAft>
                <a:spcPts val="700"/>
              </a:spcAft>
              <a:buSzPct val="100000"/>
              <a:buChar char="▪"/>
            </a:pPr>
            <a:r>
              <a:rPr lang="en-US" dirty="0">
                <a:solidFill>
                  <a:srgbClr val="1B2430"/>
                </a:solidFill>
                <a:latin typeface="Calibri" pitchFamily="34" charset="0"/>
                <a:ea typeface="Calibri" pitchFamily="34" charset="-122"/>
                <a:cs typeface="Calibri" pitchFamily="34" charset="-120"/>
              </a:rPr>
              <a:t>Preprocessing — filtering, invalid-reading rejection, quality flags</a:t>
            </a:r>
            <a:endParaRPr lang="en-US" dirty="0"/>
          </a:p>
          <a:p>
            <a:pPr marL="228600" indent="-228600">
              <a:spcAft>
                <a:spcPts val="700"/>
              </a:spcAft>
              <a:buSzPct val="100000"/>
              <a:buChar char="▪"/>
            </a:pPr>
            <a:r>
              <a:rPr lang="en-US" dirty="0">
                <a:solidFill>
                  <a:srgbClr val="1B2430"/>
                </a:solidFill>
                <a:latin typeface="Calibri" pitchFamily="34" charset="0"/>
                <a:ea typeface="Calibri" pitchFamily="34" charset="-122"/>
                <a:cs typeface="Calibri" pitchFamily="34" charset="-120"/>
              </a:rPr>
              <a:t>Feature extraction — HR, RR/HRV, EDA, IMU impact, pressure, GPS status</a:t>
            </a:r>
            <a:endParaRPr lang="en-US" dirty="0"/>
          </a:p>
          <a:p>
            <a:pPr marL="228600" indent="-228600">
              <a:spcAft>
                <a:spcPts val="700"/>
              </a:spcAft>
              <a:buSzPct val="100000"/>
              <a:buChar char="▪"/>
            </a:pPr>
            <a:r>
              <a:rPr lang="en-US" dirty="0">
                <a:solidFill>
                  <a:srgbClr val="1B2430"/>
                </a:solidFill>
                <a:latin typeface="Calibri" pitchFamily="34" charset="0"/>
                <a:ea typeface="Calibri" pitchFamily="34" charset="-122"/>
                <a:cs typeface="Calibri" pitchFamily="34" charset="-120"/>
              </a:rPr>
              <a:t>BLE service — live readings, risk state, battery, alert packets</a:t>
            </a:r>
            <a:endParaRPr lang="en-US" dirty="0"/>
          </a:p>
          <a:p>
            <a:pPr marL="228600" indent="-228600">
              <a:spcAft>
                <a:spcPts val="700"/>
              </a:spcAft>
              <a:buSzPct val="100000"/>
              <a:buChar char="▪"/>
            </a:pPr>
            <a:r>
              <a:rPr lang="en-US" dirty="0">
                <a:solidFill>
                  <a:srgbClr val="1B2430"/>
                </a:solidFill>
                <a:latin typeface="Calibri" pitchFamily="34" charset="0"/>
                <a:ea typeface="Calibri" pitchFamily="34" charset="-122"/>
                <a:cs typeface="Calibri" pitchFamily="34" charset="-120"/>
              </a:rPr>
              <a:t>Alert state machine — normal/warning/emergency/SOS, vibration timing</a:t>
            </a:r>
            <a:endParaRPr lang="en-US" dirty="0"/>
          </a:p>
          <a:p>
            <a:pPr marL="228600" indent="-228600">
              <a:spcAft>
                <a:spcPts val="700"/>
              </a:spcAft>
              <a:buSzPct val="100000"/>
              <a:buChar char="▪"/>
            </a:pPr>
            <a:r>
              <a:rPr lang="en-US" dirty="0">
                <a:solidFill>
                  <a:srgbClr val="1B2430"/>
                </a:solidFill>
                <a:latin typeface="Calibri" pitchFamily="34" charset="0"/>
                <a:ea typeface="Calibri" pitchFamily="34" charset="-122"/>
                <a:cs typeface="Calibri" pitchFamily="34" charset="-120"/>
              </a:rPr>
              <a:t>Power management — duty-cycling, sleep modes</a:t>
            </a:r>
            <a:endParaRPr lang="en-US" dirty="0"/>
          </a:p>
        </p:txBody>
      </p:sp>
      <p:sp>
        <p:nvSpPr>
          <p:cNvPr id="8" name="Text 6"/>
          <p:cNvSpPr/>
          <p:nvPr/>
        </p:nvSpPr>
        <p:spPr>
          <a:xfrm>
            <a:off x="6172200" y="1508760"/>
            <a:ext cx="5394960" cy="320040"/>
          </a:xfrm>
          <a:prstGeom prst="rect">
            <a:avLst/>
          </a:prstGeom>
          <a:noFill/>
          <a:ln/>
        </p:spPr>
        <p:txBody>
          <a:bodyPr wrap="square"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Flutter Mobile Application</a:t>
            </a:r>
            <a:endParaRPr lang="en-US" sz="2000" dirty="0"/>
          </a:p>
        </p:txBody>
      </p:sp>
      <p:sp>
        <p:nvSpPr>
          <p:cNvPr id="9" name="Text 7"/>
          <p:cNvSpPr/>
          <p:nvPr/>
        </p:nvSpPr>
        <p:spPr>
          <a:xfrm>
            <a:off x="6172200" y="1874520"/>
            <a:ext cx="5394960" cy="4206240"/>
          </a:xfrm>
          <a:prstGeom prst="rect">
            <a:avLst/>
          </a:prstGeom>
          <a:noFill/>
          <a:ln/>
        </p:spPr>
        <p:txBody>
          <a:bodyPr wrap="square" rtlCol="0" anchor="t"/>
          <a:lstStyle/>
          <a:p>
            <a:pPr marL="228600" indent="-228600">
              <a:spcAft>
                <a:spcPts val="800"/>
              </a:spcAft>
              <a:buSzPct val="100000"/>
              <a:buChar char="▪"/>
            </a:pPr>
            <a:r>
              <a:rPr lang="en-US" dirty="0">
                <a:solidFill>
                  <a:srgbClr val="1B2430"/>
                </a:solidFill>
                <a:latin typeface="Calibri" pitchFamily="34" charset="0"/>
                <a:ea typeface="Calibri" pitchFamily="34" charset="-122"/>
                <a:cs typeface="Calibri" pitchFamily="34" charset="-120"/>
              </a:rPr>
              <a:t>BLE pairing and connection-status screen</a:t>
            </a:r>
            <a:endParaRPr lang="en-US" dirty="0"/>
          </a:p>
          <a:p>
            <a:pPr marL="228600" indent="-228600">
              <a:spcAft>
                <a:spcPts val="800"/>
              </a:spcAft>
              <a:buSzPct val="100000"/>
              <a:buChar char="▪"/>
            </a:pPr>
            <a:r>
              <a:rPr lang="en-US" dirty="0">
                <a:solidFill>
                  <a:srgbClr val="1B2430"/>
                </a:solidFill>
                <a:latin typeface="Calibri" pitchFamily="34" charset="0"/>
                <a:ea typeface="Calibri" pitchFamily="34" charset="-122"/>
                <a:cs typeface="Calibri" pitchFamily="34" charset="-120"/>
              </a:rPr>
              <a:t>Dashboard: HR, SpO2, ECG/rhythm state, stress, fall/activity, temp, altitude, battery, GPS</a:t>
            </a:r>
            <a:endParaRPr lang="en-US" dirty="0"/>
          </a:p>
          <a:p>
            <a:pPr marL="228600" indent="-228600">
              <a:spcAft>
                <a:spcPts val="800"/>
              </a:spcAft>
              <a:buSzPct val="100000"/>
              <a:buChar char="▪"/>
            </a:pPr>
            <a:r>
              <a:rPr lang="en-US" dirty="0">
                <a:solidFill>
                  <a:srgbClr val="1B2430"/>
                </a:solidFill>
                <a:latin typeface="Calibri" pitchFamily="34" charset="0"/>
                <a:ea typeface="Calibri" pitchFamily="34" charset="-122"/>
                <a:cs typeface="Calibri" pitchFamily="34" charset="-120"/>
              </a:rPr>
              <a:t>Trend graphs: HR, stress score, EDA, activity intensity</a:t>
            </a:r>
            <a:endParaRPr lang="en-US" dirty="0"/>
          </a:p>
          <a:p>
            <a:pPr marL="228600" indent="-228600">
              <a:spcAft>
                <a:spcPts val="800"/>
              </a:spcAft>
              <a:buSzPct val="100000"/>
              <a:buChar char="▪"/>
            </a:pPr>
            <a:r>
              <a:rPr lang="en-US" dirty="0">
                <a:solidFill>
                  <a:srgbClr val="1B2430"/>
                </a:solidFill>
                <a:latin typeface="Calibri" pitchFamily="34" charset="0"/>
                <a:ea typeface="Calibri" pitchFamily="34" charset="-122"/>
                <a:cs typeface="Calibri" pitchFamily="34" charset="-120"/>
              </a:rPr>
              <a:t>Alert screen: vibration ack, emergency countdown, cancel, SOS trigger</a:t>
            </a:r>
            <a:endParaRPr lang="en-US" dirty="0"/>
          </a:p>
          <a:p>
            <a:pPr marL="228600" indent="-228600">
              <a:spcAft>
                <a:spcPts val="800"/>
              </a:spcAft>
              <a:buSzPct val="100000"/>
              <a:buChar char="▪"/>
            </a:pPr>
            <a:r>
              <a:rPr lang="en-US" dirty="0">
                <a:solidFill>
                  <a:srgbClr val="1B2430"/>
                </a:solidFill>
                <a:latin typeface="Calibri" pitchFamily="34" charset="0"/>
                <a:ea typeface="Calibri" pitchFamily="34" charset="-122"/>
                <a:cs typeface="Calibri" pitchFamily="34" charset="-120"/>
              </a:rPr>
              <a:t>Emergency-contact setup with consent &amp; test-mode warning</a:t>
            </a:r>
            <a:endParaRPr lang="en-US" dirty="0"/>
          </a:p>
          <a:p>
            <a:pPr marL="228600" indent="-228600">
              <a:spcAft>
                <a:spcPts val="800"/>
              </a:spcAft>
              <a:buSzPct val="100000"/>
              <a:buChar char="▪"/>
            </a:pPr>
            <a:r>
              <a:rPr lang="en-US" dirty="0">
                <a:solidFill>
                  <a:srgbClr val="1B2430"/>
                </a:solidFill>
                <a:latin typeface="Calibri" pitchFamily="34" charset="0"/>
                <a:ea typeface="Calibri" pitchFamily="34" charset="-122"/>
                <a:cs typeface="Calibri" pitchFamily="34" charset="-120"/>
              </a:rPr>
              <a:t>Data export for academic validation and model training</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DATA STRATEGY</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Dataset &amp; Preprocessing</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2011680"/>
        </p:xfrm>
        <a:graphic>
          <a:graphicData uri="http://schemas.openxmlformats.org/drawingml/2006/table">
            <a:tbl>
              <a:tblPr/>
              <a:tblGrid>
                <a:gridCol w="2377440">
                  <a:extLst>
                    <a:ext uri="{9D8B030D-6E8A-4147-A177-3AD203B41FA5}">
                      <a16:colId xmlns:a16="http://schemas.microsoft.com/office/drawing/2014/main" val="20000"/>
                    </a:ext>
                  </a:extLst>
                </a:gridCol>
                <a:gridCol w="4690872">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0292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Signals</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50292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WESAD (public)</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ECG, EDA, EMG, resp., accel, wrist BVP/EDA/temp/ACC</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Stress &amp; affect model development</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PhysioNet / MIT-BIH</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Annotated ECG, beat/rhythm labels</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ECG preprocessing, R-peak &amp; rhythm model dev.</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Own NeuroGuardian data</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MAX30102, AD8232, GSR, IMU, temp, BMP390, GPS, SOS</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Hardware validation, calibration, final testing</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502920" y="3520440"/>
            <a:ext cx="5486400" cy="32004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Preprocessing Pipeline (per modality)</a:t>
            </a:r>
            <a:endParaRPr lang="en-US" sz="1350" dirty="0"/>
          </a:p>
        </p:txBody>
      </p:sp>
      <p:sp>
        <p:nvSpPr>
          <p:cNvPr id="8" name="Text 5"/>
          <p:cNvSpPr/>
          <p:nvPr/>
        </p:nvSpPr>
        <p:spPr>
          <a:xfrm>
            <a:off x="502920" y="3840480"/>
            <a:ext cx="5486400" cy="2103120"/>
          </a:xfrm>
          <a:prstGeom prst="rect">
            <a:avLst/>
          </a:prstGeom>
          <a:noFill/>
          <a:ln/>
        </p:spPr>
        <p:txBody>
          <a:bodyPr wrap="square" rtlCol="0" anchor="t"/>
          <a:lstStyle/>
          <a:p>
            <a:pPr marL="228600" indent="-228600">
              <a:spcAft>
                <a:spcPts val="500"/>
              </a:spcAft>
              <a:buSzPct val="100000"/>
              <a:buChar char="▪"/>
            </a:pPr>
            <a:r>
              <a:rPr lang="en-US" sz="1600" dirty="0">
                <a:solidFill>
                  <a:srgbClr val="1B2430"/>
                </a:solidFill>
                <a:latin typeface="Calibri" pitchFamily="34" charset="0"/>
                <a:ea typeface="Calibri" pitchFamily="34" charset="-122"/>
                <a:cs typeface="Calibri" pitchFamily="34" charset="-120"/>
              </a:rPr>
              <a:t>PPG: DC-drift removal, motion-artifact rejection, bandpass, beat detection</a:t>
            </a:r>
            <a:endParaRPr lang="en-US" sz="1600" dirty="0"/>
          </a:p>
          <a:p>
            <a:pPr marL="228600" indent="-228600">
              <a:spcAft>
                <a:spcPts val="500"/>
              </a:spcAft>
              <a:buSzPct val="100000"/>
              <a:buChar char="▪"/>
            </a:pPr>
            <a:r>
              <a:rPr lang="en-US" sz="1600" dirty="0">
                <a:solidFill>
                  <a:srgbClr val="1B2430"/>
                </a:solidFill>
                <a:latin typeface="Calibri" pitchFamily="34" charset="0"/>
                <a:ea typeface="Calibri" pitchFamily="34" charset="-122"/>
                <a:cs typeface="Calibri" pitchFamily="34" charset="-120"/>
              </a:rPr>
              <a:t>ECG: bandpass + notch filtering, baseline-wander removal, R-peak detection</a:t>
            </a:r>
            <a:endParaRPr lang="en-US" sz="1600" dirty="0"/>
          </a:p>
          <a:p>
            <a:pPr marL="228600" indent="-228600">
              <a:spcAft>
                <a:spcPts val="500"/>
              </a:spcAft>
              <a:buSzPct val="100000"/>
              <a:buChar char="▪"/>
            </a:pPr>
            <a:r>
              <a:rPr lang="en-US" sz="1600" dirty="0">
                <a:solidFill>
                  <a:srgbClr val="1B2430"/>
                </a:solidFill>
                <a:latin typeface="Calibri" pitchFamily="34" charset="0"/>
                <a:ea typeface="Calibri" pitchFamily="34" charset="-122"/>
                <a:cs typeface="Calibri" pitchFamily="34" charset="-120"/>
              </a:rPr>
              <a:t>EDA: low-pass filter, per-user calibration, tonic/phasic separation</a:t>
            </a:r>
            <a:endParaRPr lang="en-US" sz="1600" dirty="0"/>
          </a:p>
          <a:p>
            <a:pPr marL="228600" indent="-228600">
              <a:spcAft>
                <a:spcPts val="500"/>
              </a:spcAft>
              <a:buSzPct val="100000"/>
              <a:buChar char="▪"/>
            </a:pPr>
            <a:r>
              <a:rPr lang="en-US" sz="1600" dirty="0">
                <a:solidFill>
                  <a:srgbClr val="1B2430"/>
                </a:solidFill>
                <a:latin typeface="Calibri" pitchFamily="34" charset="0"/>
                <a:ea typeface="Calibri" pitchFamily="34" charset="-122"/>
                <a:cs typeface="Calibri" pitchFamily="34" charset="-120"/>
              </a:rPr>
              <a:t>IMU / Temp / GPS: calibration, windowing, smoothing, fix-quality filtering</a:t>
            </a:r>
            <a:endParaRPr lang="en-US" sz="1600" dirty="0"/>
          </a:p>
        </p:txBody>
      </p:sp>
      <p:sp>
        <p:nvSpPr>
          <p:cNvPr id="9" name="Shape 6"/>
          <p:cNvSpPr/>
          <p:nvPr/>
        </p:nvSpPr>
        <p:spPr>
          <a:xfrm>
            <a:off x="6537960" y="3520440"/>
            <a:ext cx="4937760" cy="2468880"/>
          </a:xfrm>
          <a:prstGeom prst="roundRect">
            <a:avLst>
              <a:gd name="adj" fmla="val 3704"/>
            </a:avLst>
          </a:prstGeom>
          <a:solidFill>
            <a:srgbClr val="FFFFFF"/>
          </a:solidFill>
          <a:ln w="9525">
            <a:solidFill>
              <a:srgbClr val="E2E6ED"/>
            </a:solidFill>
            <a:prstDash val="solid"/>
          </a:ln>
          <a:effectLst>
            <a:outerShdw blurRad="63500" dist="12700" dir="5400000" algn="bl" rotWithShape="0">
              <a:srgbClr val="1B2430">
                <a:alpha val="14000"/>
              </a:srgbClr>
            </a:outerShdw>
          </a:effectLst>
        </p:spPr>
      </p:sp>
      <p:sp>
        <p:nvSpPr>
          <p:cNvPr id="10" name="Text 7"/>
          <p:cNvSpPr/>
          <p:nvPr/>
        </p:nvSpPr>
        <p:spPr>
          <a:xfrm>
            <a:off x="6766560" y="3675888"/>
            <a:ext cx="4572000" cy="320040"/>
          </a:xfrm>
          <a:prstGeom prst="rect">
            <a:avLst/>
          </a:prstGeom>
          <a:noFill/>
          <a:ln/>
        </p:spPr>
        <p:txBody>
          <a:bodyPr wrap="square"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Train / Validation / Test Strategy</a:t>
            </a:r>
            <a:endParaRPr lang="en-US" sz="1250" dirty="0"/>
          </a:p>
        </p:txBody>
      </p:sp>
      <p:sp>
        <p:nvSpPr>
          <p:cNvPr id="11" name="Text 8"/>
          <p:cNvSpPr/>
          <p:nvPr/>
        </p:nvSpPr>
        <p:spPr>
          <a:xfrm>
            <a:off x="6766560" y="4023360"/>
            <a:ext cx="4480560" cy="1828800"/>
          </a:xfrm>
          <a:prstGeom prst="rect">
            <a:avLst/>
          </a:prstGeom>
          <a:noFill/>
          <a:ln/>
        </p:spPr>
        <p:txBody>
          <a:bodyPr wrap="square" rtlCol="0" anchor="t"/>
          <a:lstStyle/>
          <a:p>
            <a:pPr marL="228600" indent="-2286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Subject-independent split (no participant overlap between train/test)</a:t>
            </a:r>
            <a:endParaRPr lang="en-US" sz="1400" dirty="0"/>
          </a:p>
          <a:p>
            <a:pPr marL="228600" indent="-2286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Public data: leave-one-subject-out or grouped splits</a:t>
            </a:r>
            <a:endParaRPr lang="en-US" sz="1400" dirty="0"/>
          </a:p>
          <a:p>
            <a:pPr marL="228600" indent="-2286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Project data: ~70% subjects train / 15% validation / 15% test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INTELLIGENCE LAYER</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Algorithms / Models Used</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3108960"/>
        </p:xfrm>
        <a:graphic>
          <a:graphicData uri="http://schemas.openxmlformats.org/drawingml/2006/table">
            <a:tbl>
              <a:tblPr/>
              <a:tblGrid>
                <a:gridCol w="21945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862072">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62179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Inputs</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Output</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Metrics</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621792">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Stress Classifier</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HR/HRV, EDA, temp trend, motion, PPG quality</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Stress level (baseline→high) or binary</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Accuracy, precision, recall, F1</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1"/>
                  </a:ext>
                </a:extLst>
              </a:tr>
              <a:tr h="621792">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ECG / Rhythm Analysis</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Filtered ECG, RR intervals, R-peak quality, HRV</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Normal-like / brady-tachy / irregular / noisy</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Sensitivity, specificity, F1, HR MAE</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2"/>
                  </a:ext>
                </a:extLst>
              </a:tr>
              <a:tr h="621792">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Fall / Activity Detector</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Accel, gyro, altitude trend, post-impact inactivity</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Rest / walk / run / fall-like / recovery</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Accuracy, fall recall, false alerts/hr</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3"/>
                  </a:ext>
                </a:extLst>
              </a:tr>
              <a:tr h="621792">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Risk Engine</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Model scores, thresholds, signal quality, SOS, GPS</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Normal / warning / emergency candidate / sent</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050" dirty="0">
                          <a:solidFill>
                            <a:srgbClr val="1B2430"/>
                          </a:solidFill>
                          <a:latin typeface="Calibri" pitchFamily="34" charset="0"/>
                          <a:ea typeface="Calibri" pitchFamily="34" charset="-122"/>
                          <a:cs typeface="Calibri" pitchFamily="34" charset="-120"/>
                        </a:rPr>
                        <a:t>Latency, alert precision/recall</a:t>
                      </a:r>
                      <a:endParaRPr lang="en-US" sz="105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502920" y="4617720"/>
            <a:ext cx="11155680" cy="32004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Candidate Algorithms</a:t>
            </a:r>
            <a:endParaRPr lang="en-US" sz="1350" dirty="0"/>
          </a:p>
        </p:txBody>
      </p:sp>
      <p:sp>
        <p:nvSpPr>
          <p:cNvPr id="8" name="Text 5"/>
          <p:cNvSpPr/>
          <p:nvPr/>
        </p:nvSpPr>
        <p:spPr>
          <a:xfrm>
            <a:off x="502920" y="4937760"/>
            <a:ext cx="11155680" cy="1188720"/>
          </a:xfrm>
          <a:prstGeom prst="rect">
            <a:avLst/>
          </a:prstGeom>
          <a:noFill/>
          <a:ln/>
        </p:spPr>
        <p:txBody>
          <a:bodyPr wrap="square" rtlCol="0" anchor="t"/>
          <a:lstStyle/>
          <a:p>
            <a:pPr marL="228600" indent="-2286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Interpretable baselines first: logistic regression, random forest, gradient boosting, SVM on engineered features</a:t>
            </a:r>
            <a:endParaRPr lang="en-US" sz="1400" dirty="0"/>
          </a:p>
          <a:p>
            <a:pPr marL="228600" indent="-2286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Then evaluate 1D CNN / LSTM / GRU / temporal convolution for ECG &amp; time-series windows</a:t>
            </a:r>
            <a:endParaRPr lang="en-US" sz="1400" dirty="0"/>
          </a:p>
          <a:p>
            <a:pPr marL="228600" indent="-2286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For embedded deployment: compact feature-based models or TensorFlow-Lite-Micro-compatible networks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QUALITY ASSURANCE</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Testing &amp; Validation Plan</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3291840"/>
        </p:xfrm>
        <a:graphic>
          <a:graphicData uri="http://schemas.openxmlformats.org/drawingml/2006/table">
            <a:tbl>
              <a:tblPr/>
              <a:tblGrid>
                <a:gridCol w="2377440">
                  <a:extLst>
                    <a:ext uri="{9D8B030D-6E8A-4147-A177-3AD203B41FA5}">
                      <a16:colId xmlns:a16="http://schemas.microsoft.com/office/drawing/2014/main" val="20000"/>
                    </a:ext>
                  </a:extLst>
                </a:gridCol>
                <a:gridCol w="4233672">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486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Test</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Metric / Target</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54864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Heart rate</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MAX30102 vs reference ECG/chest strap</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MAE/RMSE; target ±2-5 BPM at rest</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Estimated SpO2</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vs reference pulse oximeter</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MAE/RMSE in %; reported as estimate, not diagnosis</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ECG R-peaks</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AD8232 vs annotated/reference ECG</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Sensitivity, PPV, RR interval error</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IMU fall/activity</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Controlled activity &amp; safe fall-like tests</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Fall recall, specificity, false alerts/hr</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Emergency workflow</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Simulated SOS &amp; risk-event test cases</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Alert latency, BLE reliability, GPS success</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502920" y="4663440"/>
            <a:ext cx="11155680" cy="320040"/>
          </a:xfrm>
          <a:prstGeom prst="rect">
            <a:avLst/>
          </a:prstGeom>
          <a:noFill/>
          <a:ln/>
        </p:spPr>
        <p:txBody>
          <a:bodyPr wrap="square"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Software &amp; Integration Testing</a:t>
            </a:r>
            <a:endParaRPr lang="en-US" sz="1350" dirty="0"/>
          </a:p>
        </p:txBody>
      </p:sp>
      <p:sp>
        <p:nvSpPr>
          <p:cNvPr id="8" name="Text 5"/>
          <p:cNvSpPr/>
          <p:nvPr/>
        </p:nvSpPr>
        <p:spPr>
          <a:xfrm>
            <a:off x="502920" y="4983480"/>
            <a:ext cx="11155680" cy="1188720"/>
          </a:xfrm>
          <a:prstGeom prst="rect">
            <a:avLst/>
          </a:prstGeom>
          <a:noFill/>
          <a:ln/>
        </p:spPr>
        <p:txBody>
          <a:bodyPr wrap="square" rtlCol="0" anchor="t"/>
          <a:lstStyle/>
          <a:p>
            <a:pPr marL="228600" indent="-2286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Unit tests for preprocessing &amp; feature extraction on known sample signals</a:t>
            </a:r>
            <a:endParaRPr lang="en-US" sz="1400" dirty="0"/>
          </a:p>
          <a:p>
            <a:pPr marL="228600" indent="-2286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BLE packet tests: field names, units, timestamp order, reconnection</a:t>
            </a:r>
            <a:endParaRPr lang="en-US" sz="1400" dirty="0"/>
          </a:p>
          <a:p>
            <a:pPr marL="228600" indent="-228600">
              <a:spcAft>
                <a:spcPts val="500"/>
              </a:spcAft>
              <a:buSzPct val="100000"/>
              <a:buChar char="▪"/>
            </a:pPr>
            <a:r>
              <a:rPr lang="en-US" sz="1400" dirty="0">
                <a:solidFill>
                  <a:srgbClr val="1B2430"/>
                </a:solidFill>
                <a:latin typeface="Calibri" pitchFamily="34" charset="0"/>
                <a:ea typeface="Calibri" pitchFamily="34" charset="-122"/>
                <a:cs typeface="Calibri" pitchFamily="34" charset="-120"/>
              </a:rPr>
              <a:t>End-to-end tests: simulated high-risk input → vibration → app warning → emergency message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CURRENT STATUS</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Results: Development Targets vs Measured</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502920" y="1508760"/>
            <a:ext cx="11155680" cy="594360"/>
          </a:xfrm>
          <a:prstGeom prst="rect">
            <a:avLst/>
          </a:prstGeom>
          <a:noFill/>
          <a:ln/>
        </p:spPr>
        <p:txBody>
          <a:bodyPr wrap="square" rtlCol="0" anchor="ctr"/>
          <a:lstStyle/>
          <a:p>
            <a:pPr marL="0" indent="0">
              <a:buNone/>
            </a:pPr>
            <a:r>
              <a:rPr lang="en-US" sz="1200" i="1" dirty="0">
                <a:solidFill>
                  <a:srgbClr val="5B6472"/>
                </a:solidFill>
                <a:latin typeface="Calibri" pitchFamily="34" charset="0"/>
                <a:ea typeface="Calibri" pitchFamily="34" charset="-122"/>
                <a:cs typeface="Calibri" pitchFamily="34" charset="-120"/>
              </a:rPr>
              <a:t>At Phase-2, the architecture, hardware selection, software layers, dataset plan and validation methodology are complete. Controlled performance measurements have not yet been recorded in this report — values below are development targets unless marked otherwise.</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2240280"/>
          <a:ext cx="11183112" cy="3968496"/>
        </p:xfrm>
        <a:graphic>
          <a:graphicData uri="http://schemas.openxmlformats.org/drawingml/2006/table">
            <a:tbl>
              <a:tblPr/>
              <a:tblGrid>
                <a:gridCol w="27432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428232">
                  <a:extLst>
                    <a:ext uri="{9D8B030D-6E8A-4147-A177-3AD203B41FA5}">
                      <a16:colId xmlns:a16="http://schemas.microsoft.com/office/drawing/2014/main" val="20002"/>
                    </a:ext>
                  </a:extLst>
                </a:gridCol>
              </a:tblGrid>
              <a:tr h="56692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Area</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Target / Plan</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566928">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MAX30102 HR</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b="1" dirty="0">
                          <a:solidFill>
                            <a:srgbClr val="F1962B"/>
                          </a:solidFill>
                          <a:latin typeface="Calibri" pitchFamily="34" charset="0"/>
                          <a:ea typeface="Calibri" pitchFamily="34" charset="-122"/>
                          <a:cs typeface="Calibri" pitchFamily="34" charset="-120"/>
                        </a:rPr>
                        <a:t>In Progress</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Target ±2-5 BPM at rest; evaluate MAE/RMSE vs reference</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Estimated SpO2</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b="1" dirty="0">
                          <a:solidFill>
                            <a:srgbClr val="F1962B"/>
                          </a:solidFill>
                          <a:latin typeface="Calibri" pitchFamily="34" charset="0"/>
                          <a:ea typeface="Calibri" pitchFamily="34" charset="-122"/>
                          <a:cs typeface="Calibri" pitchFamily="34" charset="-120"/>
                        </a:rPr>
                        <a:t>In Progress</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Evaluate % error vs reference oximeter</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AD8232 ECG</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b="1" dirty="0">
                          <a:solidFill>
                            <a:srgbClr val="F1962B"/>
                          </a:solidFill>
                          <a:latin typeface="Calibri" pitchFamily="34" charset="0"/>
                          <a:ea typeface="Calibri" pitchFamily="34" charset="-122"/>
                          <a:cs typeface="Calibri" pitchFamily="34" charset="-120"/>
                        </a:rPr>
                        <a:t>In Progress</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Validate R-peak sensitivity/PPV &amp; RR/HR error</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Stress classification</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b="1" dirty="0">
                          <a:solidFill>
                            <a:srgbClr val="E63946"/>
                          </a:solidFill>
                          <a:latin typeface="Calibri" pitchFamily="34" charset="0"/>
                          <a:ea typeface="Calibri" pitchFamily="34" charset="-122"/>
                          <a:cs typeface="Calibri" pitchFamily="34" charset="-120"/>
                        </a:rPr>
                        <a:t>Proposed</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Train on WESAD + own labeled windows; report Accuracy/Precision/Recall/F1</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Fall/activity detection</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b="1" dirty="0">
                          <a:solidFill>
                            <a:srgbClr val="E63946"/>
                          </a:solidFill>
                          <a:latin typeface="Calibri" pitchFamily="34" charset="0"/>
                          <a:ea typeface="Calibri" pitchFamily="34" charset="-122"/>
                          <a:cs typeface="Calibri" pitchFamily="34" charset="-120"/>
                        </a:rPr>
                        <a:t>Proposed</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Validate recall/specificity in controlled movement tests</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Emergency workflow</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b="1" dirty="0">
                          <a:solidFill>
                            <a:srgbClr val="2DA44E"/>
                          </a:solidFill>
                          <a:latin typeface="Calibri" pitchFamily="34" charset="0"/>
                          <a:ea typeface="Calibri" pitchFamily="34" charset="-122"/>
                          <a:cs typeface="Calibri" pitchFamily="34" charset="-120"/>
                        </a:rPr>
                        <a:t>Design Complete</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tc>
                  <a:txBody>
                    <a:bodyPr/>
                    <a:lstStyle/>
                    <a:p>
                      <a:pPr marL="0" indent="0">
                        <a:buNone/>
                      </a:pPr>
                      <a:r>
                        <a:rPr lang="en-US" sz="1100" dirty="0">
                          <a:solidFill>
                            <a:srgbClr val="1B2430"/>
                          </a:solidFill>
                          <a:latin typeface="Calibri" pitchFamily="34" charset="0"/>
                          <a:ea typeface="Calibri" pitchFamily="34" charset="-122"/>
                          <a:cs typeface="Calibri" pitchFamily="34" charset="-120"/>
                        </a:rPr>
                        <a:t>Full end-to-end field validation pending</a:t>
                      </a:r>
                      <a:endParaRPr lang="en-US" sz="1100" dirty="0">
                        <a:latin typeface="Calibri" charset="0"/>
                        <a:ea typeface="Calibri" charset="0"/>
                        <a:cs typeface="Calibri" charset="0"/>
                      </a:endParaRPr>
                    </a:p>
                  </a:txBody>
                  <a:tcPr anchor="ctr">
                    <a:lnL w="9525" cap="flat" cmpd="sng" algn="ctr">
                      <a:solidFill>
                        <a:srgbClr val="E2E6ED"/>
                      </a:solidFill>
                      <a:prstDash val="solid"/>
                      <a:round/>
                      <a:headEnd type="none" w="med" len="med"/>
                      <a:tailEnd type="none" w="med" len="med"/>
                    </a:lnL>
                    <a:lnR w="9525" cap="flat" cmpd="sng" algn="ctr">
                      <a:solidFill>
                        <a:srgbClr val="E2E6ED"/>
                      </a:solidFill>
                      <a:prstDash val="solid"/>
                      <a:round/>
                      <a:headEnd type="none" w="med" len="med"/>
                      <a:tailEnd type="none" w="med" len="med"/>
                    </a:lnR>
                    <a:lnT w="9525" cap="flat" cmpd="sng" algn="ctr">
                      <a:solidFill>
                        <a:srgbClr val="E2E6ED"/>
                      </a:solidFill>
                      <a:prstDash val="solid"/>
                      <a:round/>
                      <a:headEnd type="none" w="med" len="med"/>
                      <a:tailEnd type="none" w="med" len="med"/>
                    </a:lnT>
                    <a:lnB w="9525" cap="flat" cmpd="sng" algn="ctr">
                      <a:solidFill>
                        <a:srgbClr val="E2E6ED"/>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HONEST ASSESSMENT</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Limitations &amp; Risk Mitigation</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20</a:t>
            </a:r>
            <a:endParaRPr lang="en-US" sz="900" dirty="0"/>
          </a:p>
        </p:txBody>
      </p:sp>
      <p:sp>
        <p:nvSpPr>
          <p:cNvPr id="6" name="Text 4"/>
          <p:cNvSpPr/>
          <p:nvPr/>
        </p:nvSpPr>
        <p:spPr>
          <a:xfrm>
            <a:off x="502920" y="1508760"/>
            <a:ext cx="5394960" cy="320040"/>
          </a:xfrm>
          <a:prstGeom prst="rect">
            <a:avLst/>
          </a:prstGeom>
          <a:noFill/>
          <a:ln/>
        </p:spPr>
        <p:txBody>
          <a:bodyPr wrap="square"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Key Limitations</a:t>
            </a:r>
            <a:endParaRPr lang="en-US" sz="2000" dirty="0"/>
          </a:p>
        </p:txBody>
      </p:sp>
      <p:sp>
        <p:nvSpPr>
          <p:cNvPr id="7" name="Text 5"/>
          <p:cNvSpPr/>
          <p:nvPr/>
        </p:nvSpPr>
        <p:spPr>
          <a:xfrm>
            <a:off x="502920" y="1874520"/>
            <a:ext cx="5394960" cy="4206240"/>
          </a:xfrm>
          <a:prstGeom prst="rect">
            <a:avLst/>
          </a:prstGeom>
          <a:noFill/>
          <a:ln/>
        </p:spPr>
        <p:txBody>
          <a:bodyPr wrap="square" rtlCol="0" anchor="t"/>
          <a:lstStyle/>
          <a:p>
            <a:pPr marL="228600" indent="-228600">
              <a:spcAft>
                <a:spcPts val="600"/>
              </a:spcAft>
              <a:buSzPct val="100000"/>
              <a:buChar char="▪"/>
            </a:pPr>
            <a:r>
              <a:rPr lang="en-US" dirty="0">
                <a:solidFill>
                  <a:srgbClr val="1B2430"/>
                </a:solidFill>
                <a:latin typeface="Calibri" pitchFamily="34" charset="0"/>
                <a:ea typeface="Calibri" pitchFamily="34" charset="-122"/>
                <a:cs typeface="Calibri" pitchFamily="34" charset="-120"/>
              </a:rPr>
              <a:t>Not a certified medical diagnostic device</a:t>
            </a:r>
            <a:endParaRPr lang="en-US" dirty="0"/>
          </a:p>
          <a:p>
            <a:pPr marL="228600" indent="-228600">
              <a:spcAft>
                <a:spcPts val="600"/>
              </a:spcAft>
              <a:buSzPct val="100000"/>
              <a:buChar char="▪"/>
            </a:pPr>
            <a:r>
              <a:rPr lang="en-US" dirty="0">
                <a:solidFill>
                  <a:srgbClr val="1B2430"/>
                </a:solidFill>
                <a:latin typeface="Calibri" pitchFamily="34" charset="0"/>
                <a:ea typeface="Calibri" pitchFamily="34" charset="-122"/>
                <a:cs typeface="Calibri" pitchFamily="34" charset="-120"/>
              </a:rPr>
              <a:t>Wrist PPG / SpO2 affected by motion, fit, skin factors, perfusion</a:t>
            </a:r>
            <a:endParaRPr lang="en-US" dirty="0"/>
          </a:p>
          <a:p>
            <a:pPr marL="228600" indent="-228600">
              <a:spcAft>
                <a:spcPts val="600"/>
              </a:spcAft>
              <a:buSzPct val="100000"/>
              <a:buChar char="▪"/>
            </a:pPr>
            <a:r>
              <a:rPr lang="en-US" dirty="0">
                <a:solidFill>
                  <a:srgbClr val="1B2430"/>
                </a:solidFill>
                <a:latin typeface="Calibri" pitchFamily="34" charset="0"/>
                <a:ea typeface="Calibri" pitchFamily="34" charset="-122"/>
                <a:cs typeface="Calibri" pitchFamily="34" charset="-120"/>
              </a:rPr>
              <a:t>Single-lead ECG needs medical validation for clinical interpretation</a:t>
            </a:r>
            <a:endParaRPr lang="en-US" dirty="0"/>
          </a:p>
          <a:p>
            <a:pPr marL="228600" indent="-228600">
              <a:spcAft>
                <a:spcPts val="600"/>
              </a:spcAft>
              <a:buSzPct val="100000"/>
              <a:buChar char="▪"/>
            </a:pPr>
            <a:r>
              <a:rPr lang="en-US" dirty="0">
                <a:solidFill>
                  <a:srgbClr val="1B2430"/>
                </a:solidFill>
                <a:latin typeface="Calibri" pitchFamily="34" charset="0"/>
                <a:ea typeface="Calibri" pitchFamily="34" charset="-122"/>
                <a:cs typeface="Calibri" pitchFamily="34" charset="-120"/>
              </a:rPr>
              <a:t>GSR/EDA influenced by temperature, humidity, movement, emotion</a:t>
            </a:r>
            <a:endParaRPr lang="en-US" dirty="0"/>
          </a:p>
          <a:p>
            <a:pPr marL="228600" indent="-228600">
              <a:spcAft>
                <a:spcPts val="600"/>
              </a:spcAft>
              <a:buSzPct val="100000"/>
              <a:buChar char="▪"/>
            </a:pPr>
            <a:r>
              <a:rPr lang="en-US" dirty="0">
                <a:solidFill>
                  <a:srgbClr val="1B2430"/>
                </a:solidFill>
                <a:latin typeface="Calibri" pitchFamily="34" charset="0"/>
                <a:ea typeface="Calibri" pitchFamily="34" charset="-122"/>
                <a:cs typeface="Calibri" pitchFamily="34" charset="-120"/>
              </a:rPr>
              <a:t>Fall detection may false-positive on sports/abrupt movement, false-negative on slow collapse</a:t>
            </a:r>
            <a:endParaRPr lang="en-US" dirty="0"/>
          </a:p>
          <a:p>
            <a:pPr marL="228600" indent="-228600">
              <a:spcAft>
                <a:spcPts val="600"/>
              </a:spcAft>
              <a:buSzPct val="100000"/>
              <a:buChar char="▪"/>
            </a:pPr>
            <a:r>
              <a:rPr lang="en-US" dirty="0">
                <a:solidFill>
                  <a:srgbClr val="1B2430"/>
                </a:solidFill>
                <a:latin typeface="Calibri" pitchFamily="34" charset="0"/>
                <a:ea typeface="Calibri" pitchFamily="34" charset="-122"/>
                <a:cs typeface="Calibri" pitchFamily="34" charset="-120"/>
              </a:rPr>
              <a:t>GPS may fail indoors or in dense urban areas</a:t>
            </a:r>
            <a:endParaRPr lang="en-US" dirty="0"/>
          </a:p>
          <a:p>
            <a:pPr marL="228600" indent="-228600">
              <a:spcAft>
                <a:spcPts val="600"/>
              </a:spcAft>
              <a:buSzPct val="100000"/>
              <a:buChar char="▪"/>
            </a:pPr>
            <a:r>
              <a:rPr lang="en-US" dirty="0">
                <a:solidFill>
                  <a:srgbClr val="1B2430"/>
                </a:solidFill>
                <a:latin typeface="Calibri" pitchFamily="34" charset="0"/>
                <a:ea typeface="Calibri" pitchFamily="34" charset="-122"/>
                <a:cs typeface="Calibri" pitchFamily="34" charset="-120"/>
              </a:rPr>
              <a:t>Public datasets differ from final hardware — own-device validation is mandatory</a:t>
            </a:r>
            <a:endParaRPr lang="en-US" dirty="0"/>
          </a:p>
        </p:txBody>
      </p:sp>
      <p:sp>
        <p:nvSpPr>
          <p:cNvPr id="8" name="Text 6"/>
          <p:cNvSpPr/>
          <p:nvPr/>
        </p:nvSpPr>
        <p:spPr>
          <a:xfrm>
            <a:off x="6172200" y="1508760"/>
            <a:ext cx="5394960" cy="320040"/>
          </a:xfrm>
          <a:prstGeom prst="rect">
            <a:avLst/>
          </a:prstGeom>
          <a:noFill/>
          <a:ln/>
        </p:spPr>
        <p:txBody>
          <a:bodyPr wrap="square"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Risk Mitigation</a:t>
            </a:r>
            <a:endParaRPr lang="en-US" sz="2000" dirty="0"/>
          </a:p>
        </p:txBody>
      </p:sp>
      <p:sp>
        <p:nvSpPr>
          <p:cNvPr id="9" name="Text 7"/>
          <p:cNvSpPr/>
          <p:nvPr/>
        </p:nvSpPr>
        <p:spPr>
          <a:xfrm>
            <a:off x="6172200" y="1874520"/>
            <a:ext cx="5394960" cy="4206240"/>
          </a:xfrm>
          <a:prstGeom prst="rect">
            <a:avLst/>
          </a:prstGeom>
          <a:noFill/>
          <a:ln/>
        </p:spPr>
        <p:txBody>
          <a:bodyPr wrap="square" rtlCol="0" anchor="t"/>
          <a:lstStyle/>
          <a:p>
            <a:pPr marL="228600" indent="-228600">
              <a:spcAft>
                <a:spcPts val="800"/>
              </a:spcAft>
              <a:buSzPct val="100000"/>
              <a:buChar char="▪"/>
            </a:pPr>
            <a:r>
              <a:rPr lang="en-US" dirty="0">
                <a:solidFill>
                  <a:srgbClr val="1B2430"/>
                </a:solidFill>
                <a:latin typeface="Calibri" pitchFamily="34" charset="0"/>
                <a:ea typeface="Calibri" pitchFamily="34" charset="-122"/>
                <a:cs typeface="Calibri" pitchFamily="34" charset="-120"/>
              </a:rPr>
              <a:t>Use “estimated / risk indicator / warning” language, not diagnostic claims</a:t>
            </a:r>
            <a:endParaRPr lang="en-US" dirty="0"/>
          </a:p>
          <a:p>
            <a:pPr marL="228600" indent="-228600">
              <a:spcAft>
                <a:spcPts val="800"/>
              </a:spcAft>
              <a:buSzPct val="100000"/>
              <a:buChar char="▪"/>
            </a:pPr>
            <a:r>
              <a:rPr lang="en-US" dirty="0">
                <a:solidFill>
                  <a:srgbClr val="1B2430"/>
                </a:solidFill>
                <a:latin typeface="Calibri" pitchFamily="34" charset="0"/>
                <a:ea typeface="Calibri" pitchFamily="34" charset="-122"/>
                <a:cs typeface="Calibri" pitchFamily="34" charset="-120"/>
              </a:rPr>
              <a:t>Multi-signal confirmation, countdown/cancel, manual SOS priority, test mode</a:t>
            </a:r>
            <a:endParaRPr lang="en-US" dirty="0"/>
          </a:p>
          <a:p>
            <a:pPr marL="228600" indent="-228600">
              <a:spcAft>
                <a:spcPts val="800"/>
              </a:spcAft>
              <a:buSzPct val="100000"/>
              <a:buChar char="▪"/>
            </a:pPr>
            <a:r>
              <a:rPr lang="en-US" dirty="0">
                <a:solidFill>
                  <a:srgbClr val="1B2430"/>
                </a:solidFill>
                <a:latin typeface="Calibri" pitchFamily="34" charset="0"/>
                <a:ea typeface="Calibri" pitchFamily="34" charset="-122"/>
                <a:cs typeface="Calibri" pitchFamily="34" charset="-120"/>
              </a:rPr>
              <a:t>Mechanical gasket/holder design, signal-quality flags, calibration protocol</a:t>
            </a:r>
            <a:endParaRPr lang="en-US" dirty="0"/>
          </a:p>
          <a:p>
            <a:pPr marL="228600" indent="-228600">
              <a:spcAft>
                <a:spcPts val="800"/>
              </a:spcAft>
              <a:buSzPct val="100000"/>
              <a:buChar char="▪"/>
            </a:pPr>
            <a:r>
              <a:rPr lang="en-US" dirty="0">
                <a:solidFill>
                  <a:srgbClr val="1B2430"/>
                </a:solidFill>
                <a:latin typeface="Calibri" pitchFamily="34" charset="0"/>
                <a:ea typeface="Calibri" pitchFamily="34" charset="-122"/>
                <a:cs typeface="Calibri" pitchFamily="34" charset="-120"/>
              </a:rPr>
              <a:t>Consent-based data collection; minimal storage; protect emergency contacts</a:t>
            </a:r>
            <a:endParaRPr lang="en-US" dirty="0"/>
          </a:p>
          <a:p>
            <a:pPr marL="228600" indent="-228600">
              <a:spcAft>
                <a:spcPts val="800"/>
              </a:spcAft>
              <a:buSzPct val="100000"/>
              <a:buChar char="▪"/>
            </a:pPr>
            <a:r>
              <a:rPr lang="en-US" dirty="0">
                <a:solidFill>
                  <a:srgbClr val="1B2430"/>
                </a:solidFill>
                <a:latin typeface="Calibri" pitchFamily="34" charset="0"/>
                <a:ea typeface="Calibri" pitchFamily="34" charset="-122"/>
                <a:cs typeface="Calibri" pitchFamily="34" charset="-120"/>
              </a:rPr>
              <a:t>Subject-independent splits and held-out testing to avoid model overfitting</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LOOKING AHEAD</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Future Scope &amp; Conclusion</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21</a:t>
            </a:r>
            <a:endParaRPr lang="en-US" sz="900" dirty="0"/>
          </a:p>
        </p:txBody>
      </p:sp>
      <p:sp>
        <p:nvSpPr>
          <p:cNvPr id="6" name="Text 4"/>
          <p:cNvSpPr/>
          <p:nvPr/>
        </p:nvSpPr>
        <p:spPr>
          <a:xfrm>
            <a:off x="502920" y="1508760"/>
            <a:ext cx="5394960" cy="320040"/>
          </a:xfrm>
          <a:prstGeom prst="rect">
            <a:avLst/>
          </a:prstGeom>
          <a:noFill/>
          <a:ln/>
        </p:spPr>
        <p:txBody>
          <a:bodyPr wrap="square"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Future Scope (Phase-3 Direction)</a:t>
            </a:r>
            <a:endParaRPr lang="en-US" sz="2000" dirty="0"/>
          </a:p>
        </p:txBody>
      </p:sp>
      <p:sp>
        <p:nvSpPr>
          <p:cNvPr id="7" name="Text 5"/>
          <p:cNvSpPr/>
          <p:nvPr/>
        </p:nvSpPr>
        <p:spPr>
          <a:xfrm>
            <a:off x="502920" y="1874520"/>
            <a:ext cx="5394960" cy="2926080"/>
          </a:xfrm>
          <a:prstGeom prst="rect">
            <a:avLst/>
          </a:prstGeom>
          <a:noFill/>
          <a:ln/>
        </p:spPr>
        <p:txBody>
          <a:bodyPr wrap="square" rtlCol="0" anchor="t"/>
          <a:lstStyle/>
          <a:p>
            <a:pPr marL="228600" indent="-228600">
              <a:spcAft>
                <a:spcPts val="900"/>
              </a:spcAft>
              <a:buSzPct val="100000"/>
              <a:buChar char="▪"/>
            </a:pPr>
            <a:r>
              <a:rPr lang="en-US" dirty="0">
                <a:solidFill>
                  <a:srgbClr val="1B2430"/>
                </a:solidFill>
                <a:latin typeface="Calibri" pitchFamily="34" charset="0"/>
                <a:ea typeface="Calibri" pitchFamily="34" charset="-122"/>
                <a:cs typeface="Calibri" pitchFamily="34" charset="-120"/>
              </a:rPr>
              <a:t>Collect a small, high-quality NeuroGuardian dataset with reference instruments</a:t>
            </a:r>
            <a:endParaRPr lang="en-US" dirty="0"/>
          </a:p>
          <a:p>
            <a:pPr marL="228600" indent="-228600">
              <a:spcAft>
                <a:spcPts val="900"/>
              </a:spcAft>
              <a:buSzPct val="100000"/>
              <a:buChar char="▪"/>
            </a:pPr>
            <a:r>
              <a:rPr lang="en-US" dirty="0">
                <a:solidFill>
                  <a:srgbClr val="1B2430"/>
                </a:solidFill>
                <a:latin typeface="Calibri" pitchFamily="34" charset="0"/>
                <a:ea typeface="Calibri" pitchFamily="34" charset="-122"/>
                <a:cs typeface="Calibri" pitchFamily="34" charset="-120"/>
              </a:rPr>
              <a:t>Compare model performance under subject-independent evaluation</a:t>
            </a:r>
            <a:endParaRPr lang="en-US" dirty="0"/>
          </a:p>
          <a:p>
            <a:pPr marL="228600" indent="-228600">
              <a:spcAft>
                <a:spcPts val="900"/>
              </a:spcAft>
              <a:buSzPct val="100000"/>
              <a:buChar char="▪"/>
            </a:pPr>
            <a:r>
              <a:rPr lang="en-US" dirty="0">
                <a:solidFill>
                  <a:srgbClr val="1B2430"/>
                </a:solidFill>
                <a:latin typeface="Calibri" pitchFamily="34" charset="0"/>
                <a:ea typeface="Calibri" pitchFamily="34" charset="-122"/>
                <a:cs typeface="Calibri" pitchFamily="34" charset="-120"/>
              </a:rPr>
              <a:t>Replace development targets with measured, validated values</a:t>
            </a:r>
            <a:endParaRPr lang="en-US" dirty="0"/>
          </a:p>
        </p:txBody>
      </p:sp>
      <p:sp>
        <p:nvSpPr>
          <p:cNvPr id="8" name="Text 6"/>
          <p:cNvSpPr/>
          <p:nvPr/>
        </p:nvSpPr>
        <p:spPr>
          <a:xfrm>
            <a:off x="6172200" y="1508760"/>
            <a:ext cx="5394960" cy="320040"/>
          </a:xfrm>
          <a:prstGeom prst="rect">
            <a:avLst/>
          </a:prstGeom>
          <a:noFill/>
          <a:ln/>
        </p:spPr>
        <p:txBody>
          <a:bodyPr wrap="square" rtlCol="0" anchor="ctr"/>
          <a:lstStyle/>
          <a:p>
            <a:pPr marL="0" indent="0">
              <a:buNone/>
            </a:pPr>
            <a:r>
              <a:rPr lang="en-US" sz="2000" b="1" dirty="0">
                <a:solidFill>
                  <a:srgbClr val="0B2545"/>
                </a:solidFill>
                <a:latin typeface="Calibri" pitchFamily="34" charset="0"/>
                <a:ea typeface="Calibri" pitchFamily="34" charset="-122"/>
                <a:cs typeface="Calibri" pitchFamily="34" charset="-120"/>
              </a:rPr>
              <a:t>Conclusion</a:t>
            </a:r>
            <a:endParaRPr lang="en-US" sz="2000" dirty="0"/>
          </a:p>
        </p:txBody>
      </p:sp>
      <p:sp>
        <p:nvSpPr>
          <p:cNvPr id="9" name="Text 7"/>
          <p:cNvSpPr/>
          <p:nvPr/>
        </p:nvSpPr>
        <p:spPr>
          <a:xfrm>
            <a:off x="6172200" y="1874520"/>
            <a:ext cx="5394960" cy="4206240"/>
          </a:xfrm>
          <a:prstGeom prst="rect">
            <a:avLst/>
          </a:prstGeom>
          <a:noFill/>
          <a:ln/>
        </p:spPr>
        <p:txBody>
          <a:bodyPr wrap="square" rtlCol="0" anchor="t"/>
          <a:lstStyle/>
          <a:p>
            <a:pPr marL="228600" indent="-228600">
              <a:spcAft>
                <a:spcPts val="800"/>
              </a:spcAft>
              <a:buSzPct val="100000"/>
              <a:buChar char="▪"/>
            </a:pPr>
            <a:r>
              <a:rPr lang="en-US" dirty="0">
                <a:solidFill>
                  <a:srgbClr val="1B2430"/>
                </a:solidFill>
                <a:latin typeface="Calibri" pitchFamily="34" charset="0"/>
                <a:ea typeface="Calibri" pitchFamily="34" charset="-122"/>
                <a:cs typeface="Calibri" pitchFamily="34" charset="-120"/>
              </a:rPr>
              <a:t>The project is technically feasible: each sensor maps clearly to an intended function</a:t>
            </a:r>
            <a:endParaRPr lang="en-US" dirty="0"/>
          </a:p>
          <a:p>
            <a:pPr marL="228600" indent="-228600">
              <a:spcAft>
                <a:spcPts val="800"/>
              </a:spcAft>
              <a:buSzPct val="100000"/>
              <a:buChar char="▪"/>
            </a:pPr>
            <a:r>
              <a:rPr lang="en-US" dirty="0">
                <a:solidFill>
                  <a:srgbClr val="1B2430"/>
                </a:solidFill>
                <a:latin typeface="Calibri" pitchFamily="34" charset="0"/>
                <a:ea typeface="Calibri" pitchFamily="34" charset="-122"/>
                <a:cs typeface="Calibri" pitchFamily="34" charset="-120"/>
              </a:rPr>
              <a:t>The main challenge is trustworthy sensing under wearable conditions, not simply wiring sensors</a:t>
            </a:r>
            <a:endParaRPr lang="en-US" dirty="0"/>
          </a:p>
          <a:p>
            <a:pPr marL="228600" indent="-228600">
              <a:spcAft>
                <a:spcPts val="800"/>
              </a:spcAft>
              <a:buSzPct val="100000"/>
              <a:buChar char="▪"/>
            </a:pPr>
            <a:r>
              <a:rPr lang="en-US" dirty="0">
                <a:solidFill>
                  <a:srgbClr val="1B2430"/>
                </a:solidFill>
                <a:latin typeface="Calibri" pitchFamily="34" charset="0"/>
                <a:ea typeface="Calibri" pitchFamily="34" charset="-122"/>
                <a:cs typeface="Calibri" pitchFamily="34" charset="-120"/>
              </a:rPr>
              <a:t>The risk engine addresses this via signal-quality flags, activity context, model confidence and manual SOS</a:t>
            </a:r>
            <a:endParaRPr lang="en-US" dirty="0"/>
          </a:p>
          <a:p>
            <a:pPr marL="228600" indent="-228600">
              <a:spcAft>
                <a:spcPts val="800"/>
              </a:spcAft>
              <a:buSzPct val="100000"/>
              <a:buChar char="▪"/>
            </a:pPr>
            <a:r>
              <a:rPr lang="en-US" dirty="0">
                <a:solidFill>
                  <a:srgbClr val="1B2430"/>
                </a:solidFill>
                <a:latin typeface="Calibri" pitchFamily="34" charset="0"/>
                <a:ea typeface="Calibri" pitchFamily="34" charset="-122"/>
                <a:cs typeface="Calibri" pitchFamily="34" charset="-120"/>
              </a:rPr>
              <a:t>Phase-2 delivers a complete proposed architecture, hardware/software plan, dataset strategy and validation methodology</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74320"/>
          </a:xfrm>
          <a:prstGeom prst="rect">
            <a:avLst/>
          </a:prstGeom>
          <a:noFill/>
          <a:ln/>
        </p:spPr>
        <p:txBody>
          <a:bodyPr wrap="square" rtlCol="0" anchor="ctr"/>
          <a:lstStyle/>
          <a:p>
            <a:pPr marL="0" indent="0">
              <a:buNone/>
            </a:pPr>
            <a:r>
              <a:rPr lang="en-US" sz="1200" b="1" kern="0" spc="100" dirty="0">
                <a:solidFill>
                  <a:srgbClr val="118AB2"/>
                </a:solidFill>
                <a:latin typeface="Calibri" pitchFamily="34" charset="0"/>
                <a:ea typeface="Calibri" pitchFamily="34" charset="-122"/>
                <a:cs typeface="Calibri" pitchFamily="34" charset="-120"/>
              </a:rPr>
              <a:t>SOURCES</a:t>
            </a:r>
            <a:endParaRPr lang="en-US" sz="1200" dirty="0"/>
          </a:p>
        </p:txBody>
      </p:sp>
      <p:sp>
        <p:nvSpPr>
          <p:cNvPr id="3" name="Text 1"/>
          <p:cNvSpPr/>
          <p:nvPr/>
        </p:nvSpPr>
        <p:spPr>
          <a:xfrm>
            <a:off x="502920" y="621792"/>
            <a:ext cx="10607040" cy="64008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References</a:t>
            </a:r>
            <a:endParaRPr lang="en-US" sz="3000" dirty="0"/>
          </a:p>
        </p:txBody>
      </p:sp>
      <p:sp>
        <p:nvSpPr>
          <p:cNvPr id="4" name="Text 2"/>
          <p:cNvSpPr/>
          <p:nvPr/>
        </p:nvSpPr>
        <p:spPr>
          <a:xfrm>
            <a:off x="502920" y="6510528"/>
            <a:ext cx="5486400" cy="274320"/>
          </a:xfrm>
          <a:prstGeom prst="rect">
            <a:avLst/>
          </a:prstGeom>
          <a:noFill/>
          <a:ln/>
        </p:spPr>
        <p:txBody>
          <a:bodyPr wrap="square" rtlCol="0" anchor="ctr"/>
          <a:lstStyle/>
          <a:p>
            <a:pPr marL="0" indent="0" algn="l">
              <a:buNone/>
            </a:pPr>
            <a:r>
              <a:rPr lang="en-US" sz="900" dirty="0">
                <a:solidFill>
                  <a:srgbClr val="5B6472"/>
                </a:solidFill>
                <a:latin typeface="Calibri" pitchFamily="34" charset="0"/>
                <a:ea typeface="Calibri" pitchFamily="34" charset="-122"/>
                <a:cs typeface="Calibri" pitchFamily="34" charset="-120"/>
              </a:rPr>
              <a:t>NeuroGuardian X  |  Phase-2 Project Review</a:t>
            </a:r>
            <a:endParaRPr lang="en-US" sz="900" dirty="0"/>
          </a:p>
        </p:txBody>
      </p:sp>
      <p:sp>
        <p:nvSpPr>
          <p:cNvPr id="5" name="Text 3"/>
          <p:cNvSpPr/>
          <p:nvPr/>
        </p:nvSpPr>
        <p:spPr>
          <a:xfrm>
            <a:off x="11140135" y="6510528"/>
            <a:ext cx="548640" cy="274320"/>
          </a:xfrm>
          <a:prstGeom prst="rect">
            <a:avLst/>
          </a:prstGeom>
          <a:noFill/>
          <a:ln/>
        </p:spPr>
        <p:txBody>
          <a:bodyPr wrap="square"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22</a:t>
            </a:r>
            <a:endParaRPr lang="en-US" sz="900" dirty="0"/>
          </a:p>
        </p:txBody>
      </p:sp>
      <p:sp>
        <p:nvSpPr>
          <p:cNvPr id="6" name="Text 4"/>
          <p:cNvSpPr/>
          <p:nvPr/>
        </p:nvSpPr>
        <p:spPr>
          <a:xfrm>
            <a:off x="502920" y="1600200"/>
            <a:ext cx="11155680" cy="4480560"/>
          </a:xfrm>
          <a:prstGeom prst="rect">
            <a:avLst/>
          </a:prstGeom>
          <a:noFill/>
          <a:ln/>
        </p:spPr>
        <p:txBody>
          <a:bodyPr wrap="square" rtlCol="0" anchor="t"/>
          <a:lstStyle/>
          <a:p>
            <a:pPr marL="228600" indent="-228600">
              <a:spcAft>
                <a:spcPts val="900"/>
              </a:spcAft>
              <a:buSzPct val="100000"/>
              <a:buChar char="▪"/>
            </a:pPr>
            <a:r>
              <a:rPr lang="en-US" dirty="0">
                <a:solidFill>
                  <a:srgbClr val="1B2430"/>
                </a:solidFill>
                <a:latin typeface="Calibri" pitchFamily="34" charset="0"/>
                <a:ea typeface="Calibri" pitchFamily="34" charset="-122"/>
                <a:cs typeface="Calibri" pitchFamily="34" charset="-120"/>
              </a:rPr>
              <a:t>[1] Analog Devices. MAX30102 High-Sensitivity Pulse Oximeter and Heart-Rate Sensor. analog.com</a:t>
            </a:r>
            <a:endParaRPr lang="en-US" dirty="0"/>
          </a:p>
          <a:p>
            <a:pPr marL="228600" indent="-228600">
              <a:spcAft>
                <a:spcPts val="900"/>
              </a:spcAft>
              <a:buSzPct val="100000"/>
              <a:buChar char="▪"/>
            </a:pPr>
            <a:r>
              <a:rPr lang="en-US" dirty="0">
                <a:solidFill>
                  <a:srgbClr val="1B2430"/>
                </a:solidFill>
                <a:latin typeface="Calibri" pitchFamily="34" charset="0"/>
                <a:ea typeface="Calibri" pitchFamily="34" charset="-122"/>
                <a:cs typeface="Calibri" pitchFamily="34" charset="-120"/>
              </a:rPr>
              <a:t>[2] Analog Devices. AD8232 Single-Lead Heart Rate Monitor Front End. analog.com</a:t>
            </a:r>
            <a:endParaRPr lang="en-US" dirty="0"/>
          </a:p>
          <a:p>
            <a:pPr marL="228600" indent="-228600">
              <a:spcAft>
                <a:spcPts val="900"/>
              </a:spcAft>
              <a:buSzPct val="100000"/>
              <a:buChar char="▪"/>
            </a:pPr>
            <a:r>
              <a:rPr lang="en-US" dirty="0">
                <a:solidFill>
                  <a:srgbClr val="1B2430"/>
                </a:solidFill>
                <a:latin typeface="Calibri" pitchFamily="34" charset="0"/>
                <a:ea typeface="Calibri" pitchFamily="34" charset="-122"/>
                <a:cs typeface="Calibri" pitchFamily="34" charset="-120"/>
              </a:rPr>
              <a:t>[3] Seeed Studio. Getting Started with XIAO ESP32-S3 Series. wiki.seeedstudio.com</a:t>
            </a:r>
            <a:endParaRPr lang="en-US" dirty="0"/>
          </a:p>
          <a:p>
            <a:pPr marL="228600" indent="-228600">
              <a:spcAft>
                <a:spcPts val="900"/>
              </a:spcAft>
              <a:buSzPct val="100000"/>
              <a:buChar char="▪"/>
            </a:pPr>
            <a:r>
              <a:rPr lang="en-US" dirty="0">
                <a:solidFill>
                  <a:srgbClr val="1B2430"/>
                </a:solidFill>
                <a:latin typeface="Calibri" pitchFamily="34" charset="0"/>
                <a:ea typeface="Calibri" pitchFamily="34" charset="-122"/>
                <a:cs typeface="Calibri" pitchFamily="34" charset="-120"/>
              </a:rPr>
              <a:t>[4] TDK InvenSense. ICM-42688-P 6-Axis MEMS MotionTracking Device. invensense.tdk.com</a:t>
            </a:r>
            <a:endParaRPr lang="en-US" dirty="0"/>
          </a:p>
          <a:p>
            <a:pPr marL="228600" indent="-228600">
              <a:spcAft>
                <a:spcPts val="900"/>
              </a:spcAft>
              <a:buSzPct val="100000"/>
              <a:buChar char="▪"/>
            </a:pPr>
            <a:r>
              <a:rPr lang="en-US" dirty="0">
                <a:solidFill>
                  <a:srgbClr val="1B2430"/>
                </a:solidFill>
                <a:latin typeface="Calibri" pitchFamily="34" charset="0"/>
                <a:ea typeface="Calibri" pitchFamily="34" charset="-122"/>
                <a:cs typeface="Calibri" pitchFamily="34" charset="-120"/>
              </a:rPr>
              <a:t>[5] Bosch Sensortec. BMP390 Pressure Sensor. bosch-sensortec.com</a:t>
            </a:r>
            <a:endParaRPr lang="en-US" dirty="0"/>
          </a:p>
          <a:p>
            <a:pPr marL="228600" indent="-228600">
              <a:spcAft>
                <a:spcPts val="900"/>
              </a:spcAft>
              <a:buSzPct val="100000"/>
              <a:buChar char="▪"/>
            </a:pPr>
            <a:r>
              <a:rPr lang="en-US" dirty="0">
                <a:solidFill>
                  <a:srgbClr val="1B2430"/>
                </a:solidFill>
                <a:latin typeface="Calibri" pitchFamily="34" charset="0"/>
                <a:ea typeface="Calibri" pitchFamily="34" charset="-122"/>
                <a:cs typeface="Calibri" pitchFamily="34" charset="-120"/>
              </a:rPr>
              <a:t>[6] Schmidt, P. et al. WESAD: A Multimodal Dataset for Wearable Stress and Affect Detection. ICMI, 2018.</a:t>
            </a:r>
            <a:endParaRPr lang="en-US" dirty="0"/>
          </a:p>
          <a:p>
            <a:pPr marL="228600" indent="-228600">
              <a:spcAft>
                <a:spcPts val="900"/>
              </a:spcAft>
              <a:buSzPct val="100000"/>
              <a:buChar char="▪"/>
            </a:pPr>
            <a:r>
              <a:rPr lang="en-US" dirty="0">
                <a:solidFill>
                  <a:srgbClr val="1B2430"/>
                </a:solidFill>
                <a:latin typeface="Calibri" pitchFamily="34" charset="0"/>
                <a:ea typeface="Calibri" pitchFamily="34" charset="-122"/>
                <a:cs typeface="Calibri" pitchFamily="34" charset="-120"/>
              </a:rPr>
              <a:t>[7] Moody, G.B. &amp; Mark, R.G. The Impact of the MIT-BIH Arrhythmia Database. IEEE EMB, 2001.</a:t>
            </a:r>
            <a:endParaRPr lang="en-US" dirty="0"/>
          </a:p>
          <a:p>
            <a:pPr marL="228600" indent="-228600">
              <a:spcAft>
                <a:spcPts val="900"/>
              </a:spcAft>
              <a:buSzPct val="100000"/>
              <a:buChar char="▪"/>
            </a:pPr>
            <a:r>
              <a:rPr lang="en-US" dirty="0">
                <a:solidFill>
                  <a:srgbClr val="1B2430"/>
                </a:solidFill>
                <a:latin typeface="Calibri" pitchFamily="34" charset="0"/>
                <a:ea typeface="Calibri" pitchFamily="34" charset="-122"/>
                <a:cs typeface="Calibri" pitchFamily="34" charset="-120"/>
              </a:rPr>
              <a:t>[8] Goldberger, A.L. et al. PhysioBank, PhysioToolkit, and PhysioNet. Circulation, 2000.</a:t>
            </a:r>
            <a:endParaRPr lang="en-US" dirty="0"/>
          </a:p>
          <a:p>
            <a:pPr marL="228600" indent="-228600">
              <a:spcAft>
                <a:spcPts val="900"/>
              </a:spcAft>
              <a:buSzPct val="100000"/>
              <a:buChar char="▪"/>
            </a:pPr>
            <a:r>
              <a:rPr lang="en-US" dirty="0">
                <a:solidFill>
                  <a:srgbClr val="1B2430"/>
                </a:solidFill>
                <a:latin typeface="Calibri" pitchFamily="34" charset="0"/>
                <a:ea typeface="Calibri" pitchFamily="34" charset="-122"/>
                <a:cs typeface="Calibri" pitchFamily="34" charset="-120"/>
              </a:rPr>
              <a:t>[9] U.S. FDA. Pulse Oximeter Accuracy and Limitations — Safety Communication. fda.gov</a:t>
            </a:r>
            <a:endParaRPr lang="en-US" dirty="0"/>
          </a:p>
          <a:p>
            <a:pPr marL="228600" indent="-228600">
              <a:spcAft>
                <a:spcPts val="900"/>
              </a:spcAft>
              <a:buSzPct val="100000"/>
              <a:buChar char="▪"/>
            </a:pPr>
            <a:r>
              <a:rPr lang="en-US" dirty="0">
                <a:solidFill>
                  <a:srgbClr val="1B2430"/>
                </a:solidFill>
                <a:latin typeface="Calibri" pitchFamily="34" charset="0"/>
                <a:ea typeface="Calibri" pitchFamily="34" charset="-122"/>
                <a:cs typeface="Calibri" pitchFamily="34" charset="-120"/>
              </a:rPr>
              <a:t>[10] Flutter Documentation. docs.flutter.dev</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13315C"/>
          </a:solidFill>
          <a:ln/>
        </p:spPr>
      </p:sp>
      <p:sp>
        <p:nvSpPr>
          <p:cNvPr id="3" name="Shape 1"/>
          <p:cNvSpPr/>
          <p:nvPr/>
        </p:nvSpPr>
        <p:spPr>
          <a:xfrm>
            <a:off x="9875520" y="4114800"/>
            <a:ext cx="3840480" cy="3840480"/>
          </a:xfrm>
          <a:prstGeom prst="ellipse">
            <a:avLst/>
          </a:prstGeom>
          <a:solidFill>
            <a:srgbClr val="13315C"/>
          </a:solidFill>
          <a:ln/>
        </p:spPr>
      </p:sp>
      <p:sp>
        <p:nvSpPr>
          <p:cNvPr id="4" name="Shape 2"/>
          <p:cNvSpPr/>
          <p:nvPr/>
        </p:nvSpPr>
        <p:spPr>
          <a:xfrm>
            <a:off x="4023360" y="2743200"/>
            <a:ext cx="4114800" cy="1280160"/>
          </a:xfrm>
          <a:prstGeom prst="roundRect">
            <a:avLst>
              <a:gd name="adj" fmla="val 8571"/>
            </a:avLst>
          </a:prstGeom>
          <a:solidFill>
            <a:srgbClr val="118AB2"/>
          </a:solidFill>
          <a:ln/>
          <a:effectLst>
            <a:outerShdw blurRad="101600" dist="38100" dir="5400000" algn="bl" rotWithShape="0">
              <a:srgbClr val="000000">
                <a:alpha val="25000"/>
              </a:srgbClr>
            </a:outerShdw>
          </a:effectLst>
        </p:spPr>
      </p:sp>
      <p:sp>
        <p:nvSpPr>
          <p:cNvPr id="5" name="Text 3"/>
          <p:cNvSpPr/>
          <p:nvPr/>
        </p:nvSpPr>
        <p:spPr>
          <a:xfrm>
            <a:off x="4023360" y="2743200"/>
            <a:ext cx="4114800" cy="128016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6" name="Text 4"/>
          <p:cNvSpPr/>
          <p:nvPr/>
        </p:nvSpPr>
        <p:spPr>
          <a:xfrm>
            <a:off x="0" y="4297680"/>
            <a:ext cx="12191695" cy="457200"/>
          </a:xfrm>
          <a:prstGeom prst="rect">
            <a:avLst/>
          </a:prstGeom>
          <a:noFill/>
          <a:ln/>
        </p:spPr>
        <p:txBody>
          <a:bodyPr wrap="square" rtlCol="0" anchor="ctr"/>
          <a:lstStyle/>
          <a:p>
            <a:pPr marL="0" indent="0" algn="ctr">
              <a:buNone/>
            </a:pPr>
            <a:r>
              <a:rPr lang="en-US" sz="1500" i="1" dirty="0">
                <a:solidFill>
                  <a:srgbClr val="CADCFC"/>
                </a:solidFill>
                <a:latin typeface="Calibri" pitchFamily="34" charset="0"/>
                <a:ea typeface="Calibri" pitchFamily="34" charset="-122"/>
                <a:cs typeface="Calibri" pitchFamily="34" charset="-120"/>
              </a:rPr>
              <a:t>Questions &amp; Discussion</a:t>
            </a:r>
            <a:endParaRPr lang="en-US" sz="1500" dirty="0"/>
          </a:p>
        </p:txBody>
      </p:sp>
      <p:sp>
        <p:nvSpPr>
          <p:cNvPr id="7" name="Text 5"/>
          <p:cNvSpPr/>
          <p:nvPr/>
        </p:nvSpPr>
        <p:spPr>
          <a:xfrm>
            <a:off x="0" y="6309360"/>
            <a:ext cx="12191695" cy="320040"/>
          </a:xfrm>
          <a:prstGeom prst="rect">
            <a:avLst/>
          </a:prstGeom>
          <a:noFill/>
          <a:ln/>
        </p:spPr>
        <p:txBody>
          <a:bodyPr wrap="square" rtlCol="0" anchor="ctr"/>
          <a:lstStyle/>
          <a:p>
            <a:pPr marL="0" indent="0" algn="ctr">
              <a:buNone/>
            </a:pPr>
            <a:r>
              <a:rPr lang="en-US" sz="1050" dirty="0">
                <a:solidFill>
                  <a:srgbClr val="6E86AC"/>
                </a:solidFill>
                <a:latin typeface="Calibri" pitchFamily="34" charset="0"/>
                <a:ea typeface="Calibri" pitchFamily="34" charset="-122"/>
                <a:cs typeface="Calibri" pitchFamily="34" charset="-120"/>
              </a:rPr>
              <a:t>NeuroGuardian X  —  Phase-2 Academic Project Review  —  Department of CSBS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4283</Words>
  <Application>Microsoft Office PowerPoint</Application>
  <PresentationFormat>Widescreen</PresentationFormat>
  <Paragraphs>473</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Gowtham M.p</cp:lastModifiedBy>
  <cp:revision>2</cp:revision>
  <dcterms:created xsi:type="dcterms:W3CDTF">2026-09-03T06:45:07Z</dcterms:created>
  <dcterms:modified xsi:type="dcterms:W3CDTF">2026-09-03T06:58:47Z</dcterms:modified>
</cp:coreProperties>
</file>